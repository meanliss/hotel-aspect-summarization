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SPACE_HASOS_FULL_E20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SPACE-trained SemAE cho HASOS aspect/sentiment summary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32588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1550" dirty="0">
                <a:solidFill>
                  <a:srgbClr val="14213D"/>
                </a:solidFill>
              </a:rPr>
              <a:t>Deck này ghi lại pipeline sau training: SemAE checkpoint được dùng để chọn câu theo 29 HASOS aspects, sau đó tách sentiment trên chính các câu đã chọn.</a:t>
            </a:r>
            <a:endParaRPr lang="vi-VN" sz="1550"/>
          </a:p>
        </p:txBody>
      </p:sp>
      <p:sp>
        <p:nvSpPr>
          <p:cNvPr id="6" name="Text 6"/>
          <p:cNvSpPr txBox="1"/>
          <p:nvPr/>
        </p:nvSpPr>
        <p:spPr>
          <a:xfrm>
            <a:off x="6629400" y="1325880"/>
            <a:ext cx="44805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50" dirty="0">
                <a:solidFill>
                  <a:srgbClr val="14213D"/>
                </a:solidFill>
              </a:rPr>
              <a:t>Training: SPACE training run</a:t>
            </a:r>
            <a:endParaRPr lang="vi-VN" sz="1350"/>
          </a:p>
          <a:p>
            <a:r>
              <a:rPr lang="vi-VN" sz="1350" dirty="0">
                <a:solidFill>
                  <a:srgbClr val="14213D"/>
                </a:solidFill>
              </a:rPr>
              <a:t>Output modes: 2</a:t>
            </a:r>
            <a:endParaRPr lang="vi-VN" sz="1350"/>
          </a:p>
          <a:p>
            <a:r>
              <a:rPr lang="vi-VN" sz="1350" dirty="0">
                <a:solidFill>
                  <a:srgbClr val="14213D"/>
                </a:solidFill>
              </a:rPr>
              <a:t>HASOS aspects: 29</a:t>
            </a:r>
            <a:endParaRPr lang="vi-VN" sz="1350"/>
          </a:p>
          <a:p>
            <a:r>
              <a:rPr lang="vi-VN" sz="1350" dirty="0">
                <a:solidFill>
                  <a:srgbClr val="14213D"/>
                </a:solidFill>
              </a:rPr>
              <a:t>Trace rows: 20</a:t>
            </a:r>
            <a:endParaRPr lang="vi-VN" sz="1350"/>
          </a:p>
        </p:txBody>
      </p:sp>
      <p:sp>
        <p:nvSpPr>
          <p:cNvPr id="7" name="Text 7"/>
          <p:cNvSpPr txBox="1"/>
          <p:nvPr/>
        </p:nvSpPr>
        <p:spPr>
          <a:xfrm>
            <a:off x="685800" y="3154680"/>
            <a:ext cx="10424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solidFill>
                  <a:srgbClr val="14213D"/>
                </a:solidFill>
              </a:rPr>
              <a:t>Output 1: Aspect-only summary giữ lẫn positive/negative/neutral.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Output 2: Aspect + sentiment tách pos/neg/neu từ cùng câu đã được chọn.</a:t>
            </a:r>
            <a:endParaRPr lang="vi-VN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MECHANISM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Pipeline từ input tới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1 Input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hasos_summ.json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reviews grouped by entity</a:t>
            </a:r>
            <a:endParaRPr lang="vi-VN" sz="1050"/>
          </a:p>
        </p:txBody>
      </p:sp>
      <p:sp>
        <p:nvSpPr>
          <p:cNvPr id="6" name="Text 6"/>
          <p:cNvSpPr txBox="1"/>
          <p:nvPr/>
        </p:nvSpPr>
        <p:spPr>
          <a:xfrm>
            <a:off x="274320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2 Tokenize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SPACE SentencePiece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same tokenizer as checkpoint</a:t>
            </a:r>
            <a:endParaRPr lang="vi-VN" sz="1050"/>
          </a:p>
        </p:txBody>
      </p:sp>
      <p:sp>
        <p:nvSpPr>
          <p:cNvPr id="7" name="Text 7"/>
          <p:cNvSpPr txBox="1"/>
          <p:nvPr/>
        </p:nvSpPr>
        <p:spPr>
          <a:xfrm>
            <a:off x="489204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3 Encode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SemAE cluster distribution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D_z(s) per sentence</a:t>
            </a:r>
            <a:endParaRPr lang="vi-VN" sz="1050"/>
          </a:p>
        </p:txBody>
      </p:sp>
      <p:sp>
        <p:nvSpPr>
          <p:cNvPr id="8" name="Text 8"/>
          <p:cNvSpPr txBox="1"/>
          <p:nvPr/>
        </p:nvSpPr>
        <p:spPr>
          <a:xfrm>
            <a:off x="704088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4 Aspect rank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KL(D_z||P_z) - beta*KL(D_z||P_k)</a:t>
            </a:r>
            <a:endParaRPr lang="vi-VN" sz="1050"/>
          </a:p>
        </p:txBody>
      </p:sp>
      <p:sp>
        <p:nvSpPr>
          <p:cNvPr id="9" name="Text 9"/>
          <p:cNvSpPr txBox="1"/>
          <p:nvPr/>
        </p:nvSpPr>
        <p:spPr>
          <a:xfrm>
            <a:off x="918972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5 Output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truncate top sentences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then sentiment split</a:t>
            </a:r>
            <a:endParaRPr lang="vi-VN" sz="1050"/>
          </a:p>
        </p:txBody>
      </p:sp>
      <p:sp>
        <p:nvSpPr>
          <p:cNvPr id="10" name="Text 10"/>
          <p:cNvSpPr txBox="1"/>
          <p:nvPr/>
        </p:nvSpPr>
        <p:spPr>
          <a:xfrm>
            <a:off x="685800" y="3429000"/>
            <a:ext cx="10424160" cy="77724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Biến thể so với SemAE gốc: taxonomy/seeds đổi sang HASOS 29 aspects; sentiment không tham gia ranking mà chỉ là post-processing.</a:t>
            </a:r>
            <a:endParaRPr lang="vi-V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READINESS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Artifact gate và dữ liệu chuẩn bị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53949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OK artifact:space_sentencepiece_exact_gate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inference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inference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export_lines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export_lines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summarize_outputs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summarize_outputs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score_outputs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score_outputs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build_pptx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build_pptx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pipeline_complete</a:t>
            </a:r>
            <a:endParaRPr lang="vi-VN" sz="1000"/>
          </a:p>
        </p:txBody>
      </p:sp>
      <p:sp>
        <p:nvSpPr>
          <p:cNvPr id="6" name="Text 6"/>
          <p:cNvSpPr txBox="1"/>
          <p:nvPr/>
        </p:nvSpPr>
        <p:spPr>
          <a:xfrm>
            <a:off x="6400800" y="1234440"/>
            <a:ext cx="4892040" cy="169164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Hard gate quan trọng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Checkpoint SemAE không tự chứa SentencePiece model. Nếu `space_unigram_32k.model` không khớp tokenizer lúc train, token id sẽ sai và inference không đáng tin.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6400800" y="3246120"/>
            <a:ext cx="4892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Validate hiện tại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entities=50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reviews=5000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sentences=45529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aspects=29</a:t>
            </a:r>
            <a:endParaRPr lang="vi-VN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TRACEABILITY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Provenance cho từng câu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389120" cy="155448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Aspect summary rows: 3580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Provenance rows: 3580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Coverage: 1.0000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File: outputs/space_hasos_full_e20_provenance.jsonl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5394960" y="1234440"/>
            <a:ext cx="5715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entity=100597 | aspect=FAC_ROOM | rank=1 | review=UR116685264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seed=['room'] | sentiment=pos ['clean', 'comfortable']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sentence: We had a balcony, the beds were super comfortable, room was a good size and clean.</a:t>
            </a:r>
            <a:endParaRPr lang="vi-VN" sz="1000"/>
          </a:p>
        </p:txBody>
      </p:sp>
      <p:sp>
        <p:nvSpPr>
          <p:cNvPr id="7" name="Text 7"/>
          <p:cNvSpPr txBox="1"/>
          <p:nvPr/>
        </p:nvSpPr>
        <p:spPr>
          <a:xfrm>
            <a:off x="685800" y="3703320"/>
            <a:ext cx="10424160" cy="91440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100" dirty="0">
                <a:solidFill>
                  <a:srgbClr val="14213D"/>
                </a:solidFill>
              </a:rPr>
              <a:t>Mỗi câu summary ghi: entity/split/aspect, summary_sentence_index, rank/score/beta, source_review_id, source_sentence_index, matched_aspect_seed, sentiment_label, matched_sentiment_keywords, was_truncated. Metric mới source_fidelity_excl_truncated loại câu bị cắt khỏi exact-match denominator.</a:t>
            </a:r>
            <a:endParaRPr lang="vi-V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FORMULA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SemAE scoring theo aspect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31520" y="1325880"/>
            <a:ext cx="104241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900" dirty="0">
                <a:b/>
                <a:solidFill>
                  <a:srgbClr val="14213D"/>
                </a:solidFill>
              </a:rPr>
              <a:t>score(s, k) = KL(D_z(s) || P_z) - beta * KL(D_z(s) || P_k)</a:t>
            </a:r>
            <a:endParaRPr lang="vi-VN" sz="1900"/>
          </a:p>
        </p:txBody>
      </p:sp>
      <p:sp>
        <p:nvSpPr>
          <p:cNvPr id="6" name="Text 6"/>
          <p:cNvSpPr txBox="1"/>
          <p:nvPr/>
        </p:nvSpPr>
        <p:spPr>
          <a:xfrm>
            <a:off x="822960" y="2286000"/>
            <a:ext cx="5212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D_z(s): phân phối cluster của câu s.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P_z: background distribution.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P_k: prototype distribution của aspect k.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beta=0.7 theo recipe hiện tại.</a:t>
            </a:r>
            <a:endParaRPr lang="vi-VN" sz="1250"/>
          </a:p>
        </p:txBody>
      </p:sp>
      <p:sp>
        <p:nvSpPr>
          <p:cNvPr id="7" name="Text 7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Câu có score thấp hơn được ưu tiên. Output là extractive: chọn và nối câu gốc thay vì paraphrase, nên có thể trace ngược về review/entity.</a:t>
            </a:r>
            <a:endParaRPr lang="vi-VN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OLD BASELINE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 original aspects: official ROUGE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10378440" cy="86868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120" dirty="0">
                <a:solidFill>
                  <a:srgbClr val="14213D"/>
                </a:solidFill>
              </a:rPr>
              <a:t>Bản cũ dùng đúng SPACE benchmark và 6 aspect gốc: building, cleanliness, food, location, rooms, service. Run này chạy without --no_eval nên điểm dưới đây là pyrouge official, khác với HASOS reference-free metrics.</a:t>
            </a:r>
            <a:endParaRPr lang="vi-VN" sz="1120"/>
          </a:p>
        </p:txBody>
      </p:sp>
      <p:sp>
        <p:nvSpPr>
          <p:cNvPr id="6" name="Text 6"/>
          <p:cNvSpPr txBox="1"/>
          <p:nvPr/>
        </p:nvSpPr>
        <p:spPr>
          <a:xfrm>
            <a:off x="777240" y="2423160"/>
            <a:ext cx="45262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Macro F1 by split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DEV   R1=0.3068  R2=0.0827  RL=0.2195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TEST  R1=0.3002  R2=0.0879  RL=0.2179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ALL   R1=0.3033  R2=0.0857  RL=0.2188</a:t>
            </a:r>
            <a:endParaRPr lang="vi-VN" sz="1250"/>
          </a:p>
        </p:txBody>
      </p:sp>
      <p:sp>
        <p:nvSpPr>
          <p:cNvPr id="7" name="Text 7"/>
          <p:cNvSpPr txBox="1"/>
          <p:nvPr/>
        </p:nvSpPr>
        <p:spPr>
          <a:xfrm>
            <a:off x="5623560" y="2240280"/>
            <a:ext cx="5440680" cy="24231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850" dirty="0">
                <a:solidFill>
                  <a:srgbClr val="14213D"/>
                </a:solidFill>
              </a:rPr>
              <a:t>ALL split by aspect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R1 / R2 / RL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building     0.2656 / 0.0591 / 0.1939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cleanliness  0.2653 / 0.0803 / 0.2159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food         0.3090 / 0.0917 / 0.2183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location     0.3413 / 0.1072 / 0.2334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rooms        0.3441 / 0.0869 / 0.2345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service      0.2943 / 0.0888 / 0.2171</a:t>
            </a:r>
            <a:endParaRPr lang="vi-VN" sz="850"/>
          </a:p>
        </p:txBody>
      </p:sp>
      <p:sp>
        <p:nvSpPr>
          <p:cNvPr id="8" name="Text 8"/>
          <p:cNvSpPr txBox="1"/>
          <p:nvPr/>
        </p:nvSpPr>
        <p:spPr>
          <a:xfrm>
            <a:off x="777240" y="4892040"/>
            <a:ext cx="10195560" cy="50292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Kết luận so sánh: HASOS 29 aspects là adaptation/inference mới không có gold summary; SPACE original 6 aspects là baseline có gold và có thể so sánh bằng ROUGE.</a:t>
            </a:r>
            <a:endParaRPr lang="vi-VN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OUTPUT 1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Ví dụ aspect-only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2926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b/>
                <a:solidFill>
                  <a:srgbClr val="14213D"/>
                </a:solidFill>
              </a:rPr>
              <a:t>Entity: 100585</a:t>
            </a:r>
            <a:endParaRPr lang="vi-VN" sz="1250"/>
          </a:p>
          <a:p>
            <a:r>
              <a:rPr lang="vi-VN" sz="1250" dirty="0">
                <a:b/>
                <a:solidFill>
                  <a:srgbClr val="14213D"/>
                </a:solidFill>
              </a:rPr>
              <a:t>Aspect: AM_ENT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3794760" y="1234440"/>
            <a:ext cx="7315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1. I filled out one of their comment cards with a minor complaint (we found the tv system cumbersome) and I actualy received an e mail from the hotel management!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2. Each room is named after a Washington winery, and one of</a:t>
            </a:r>
            <a:endParaRPr lang="vi-VN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OUTPUT 2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Ví dụ aspect + sentiment split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10515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POS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(empty)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NEG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(empty)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NEU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- I filled out one of their comment cards with a minor complaint (we found the tv system cumbersome) and I actualy received an e mail ...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- Each room is named after a Washington winery, and one of</a:t>
            </a:r>
            <a:endParaRPr lang="vi-VN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QUALITY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Metrics và health checks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77240" y="1325880"/>
            <a:ext cx="4709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source_fidelity: 0.6094320692641413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source_fidelity_excl_truncated: 0.96920875509799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aspect_purity: 0.5516646622593705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distinct_2: 0.7179243707434944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self_bleu4: 0.01087499632043265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5577840" y="1325880"/>
            <a:ext cx="548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HASOS không có gold summary nên dùng reference-free metrics: fidelity, purity, diversity, compression. BERTScore có thể chạy thêm nếu dependency/model tải được.</a:t>
            </a:r>
            <a:endParaRPr lang="vi-VN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CAVEATS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Limitations và quyết định kỹ thuật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77240" y="1325880"/>
            <a:ext cx="103327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1. Sentiment là keyword post-processing, không phải sentiment-aware ranking.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2. Output extractive nên traceable nhưng có thể dài hoặc multi-aspect.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3. Tokenizer là artifact bắt buộc và phải sync cùng checkpoint.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4. Run này ưu tiên có output đúng pipeline trước deadline; xem trace/log để đánh giá độ sạch numerical.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777240" y="4160520"/>
            <a:ext cx="10332720" cy="5943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b/>
                <a:solidFill>
                  <a:srgbClr val="14213D"/>
                </a:solidFill>
              </a:rPr>
              <a:t>Final deck path: outputs/space_hasos_full_e20_pipeline_report.pptx</a:t>
            </a:r>
            <a:endParaRPr lang="vi-V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AE">
  <a:themeElements>
    <a:clrScheme name="SemAE">
      <a:dk1>
        <a:srgbClr val="14213D"/>
      </a:dk1>
      <a:lt1>
        <a:srgbClr val="FFFFFF"/>
      </a:lt1>
      <a:dk2>
        <a:srgbClr val="56616F"/>
      </a:dk2>
      <a:lt2>
        <a:srgbClr val="F8FAFC"/>
      </a:lt2>
      <a:accent1>
        <a:srgbClr val="2563EB"/>
      </a:accent1>
      <a:accent2>
        <a:srgbClr val="0F766E"/>
      </a:accent2>
      <a:accent3>
        <a:srgbClr val="B7791F"/>
      </a:accent3>
      <a:accent4>
        <a:srgbClr val="B42318"/>
      </a:accent4>
      <a:accent5>
        <a:srgbClr val="64748B"/>
      </a:accent5>
      <a:accent6>
        <a:srgbClr val="0EA5E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emA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SemAE pipeline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SemAE HASOS pipeline report</dc:title>
  <dc:creator>SemAE pipeline</dc:creator>
  <cp:lastModifiedBy>SemAE pipeline</cp:lastModifiedBy>
  <dcterms:created xsi:type="dcterms:W3CDTF">2026-06-09T18:28:37.492647+00:00</dcterms:created>
  <dcterms:modified xsi:type="dcterms:W3CDTF">2026-06-09T18:28:37.492647+00:00</dcterms:modified>
</cp:coreProperties>
</file>