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 type="wide"/>
  <p:notesSz cx="6858000" cy="9144000"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Master" Target="slideMasters/slide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SPACE_HASOS_FULL_E20_RANKED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SPACE-trained SemAE cho HASOS aspect/sentiment summary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325880"/>
            <a:ext cx="566928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1550" dirty="0">
                <a:solidFill>
                  <a:srgbClr val="14213D"/>
                </a:solidFill>
              </a:rPr>
              <a:t>Deck này ghi lại pipeline sau training: SemAE checkpoint được dùng để rank câu theo 29 HASOS aspects. Bản sửa mới lấy top-5 ranked evidence đầy đủ trước khi truncate rồi synthesize bằng FLAN/T5 summarization model.</a:t>
            </a:r>
            <a:endParaRPr lang="vi-VN" sz="1550"/>
          </a:p>
        </p:txBody>
      </p:sp>
      <p:sp>
        <p:nvSpPr>
          <p:cNvPr id="6" name="Text 6"/>
          <p:cNvSpPr txBox="1"/>
          <p:nvPr/>
        </p:nvSpPr>
        <p:spPr>
          <a:xfrm>
            <a:off x="6629400" y="1325880"/>
            <a:ext cx="44805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Training: SPACE training run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Output modes: extractive + abstractive_ranked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HASOS aspects: 29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Trace rows: 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Ranked evidence rows: 6850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Synthesis rows: 0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85800" y="3337560"/>
            <a:ext cx="10424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solidFill>
                  <a:srgbClr val="14213D"/>
                </a:solidFill>
              </a:rPr>
              <a:t>Corrected flow: SemAE scoring -&gt; top-5 full ranked evidence -&gt; FLAN/T5 abstractive summary. Extractive/sentiment outputs vẫn giữ để audit, nhưng không còn là input cho abstractive synthesis.</a:t>
            </a:r>
            <a:endParaRPr lang="vi-V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MECHANISM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Pipeline từ input tới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59436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1 Input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hasos_summ.json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reviews grouped by entity</a:t>
            </a:r>
            <a:endParaRPr lang="vi-VN" sz="1050"/>
          </a:p>
        </p:txBody>
      </p:sp>
      <p:sp>
        <p:nvSpPr>
          <p:cNvPr id="6" name="Text 6"/>
          <p:cNvSpPr txBox="1"/>
          <p:nvPr/>
        </p:nvSpPr>
        <p:spPr>
          <a:xfrm>
            <a:off x="274320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2 Tokenize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SPACE SentencePiece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same tokenizer as checkpoint</a:t>
            </a:r>
            <a:endParaRPr lang="vi-VN" sz="1050"/>
          </a:p>
        </p:txBody>
      </p:sp>
      <p:sp>
        <p:nvSpPr>
          <p:cNvPr id="7" name="Text 7"/>
          <p:cNvSpPr txBox="1"/>
          <p:nvPr/>
        </p:nvSpPr>
        <p:spPr>
          <a:xfrm>
            <a:off x="489204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3 Encode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SemAE cluster distribution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D_z(s) per sentence</a:t>
            </a:r>
            <a:endParaRPr lang="vi-VN" sz="1050"/>
          </a:p>
        </p:txBody>
      </p:sp>
      <p:sp>
        <p:nvSpPr>
          <p:cNvPr id="8" name="Text 8"/>
          <p:cNvSpPr txBox="1"/>
          <p:nvPr/>
        </p:nvSpPr>
        <p:spPr>
          <a:xfrm>
            <a:off x="704088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4 Aspect rank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KL(D_z||P_z) - beta*KL(D_z||P_k)</a:t>
            </a:r>
            <a:endParaRPr lang="vi-VN" sz="1050"/>
          </a:p>
        </p:txBody>
      </p:sp>
      <p:sp>
        <p:nvSpPr>
          <p:cNvPr id="9" name="Text 9"/>
          <p:cNvSpPr txBox="1"/>
          <p:nvPr/>
        </p:nvSpPr>
        <p:spPr>
          <a:xfrm>
            <a:off x="918972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5 Synthesize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top-5 full evidence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FLAN/T5 summary</a:t>
            </a:r>
            <a:endParaRPr lang="vi-VN" sz="1050"/>
          </a:p>
        </p:txBody>
      </p:sp>
      <p:sp>
        <p:nvSpPr>
          <p:cNvPr id="10" name="Text 10"/>
          <p:cNvSpPr txBox="1"/>
          <p:nvPr/>
        </p:nvSpPr>
        <p:spPr>
          <a:xfrm>
            <a:off x="685800" y="3429000"/>
            <a:ext cx="10424160" cy="77724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Biến thể so với SemAE gốc: taxonomy/seeds đổi sang HASOS 29 aspects. Abstractive stage dùng ranked evidence trước truncate; sentiment split chỉ là audit post-processing.</a:t>
            </a:r>
            <a:endParaRPr lang="vi-VN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READINESS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Artifact gate và dữ liệu chuẩn bị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539496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00" dirty="0">
                <a:solidFill>
                  <a:srgbClr val="14213D"/>
                </a:solidFill>
              </a:rPr>
              <a:t>Trace chưa có.</a:t>
            </a:r>
            <a:endParaRPr lang="vi-VN" sz="1000"/>
          </a:p>
        </p:txBody>
      </p:sp>
      <p:sp>
        <p:nvSpPr>
          <p:cNvPr id="6" name="Text 6"/>
          <p:cNvSpPr txBox="1"/>
          <p:nvPr/>
        </p:nvSpPr>
        <p:spPr>
          <a:xfrm>
            <a:off x="6400800" y="1234440"/>
            <a:ext cx="4892040" cy="169164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Hard gate quan trọng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Checkpoint SemAE không tự chứa SentencePiece model. Nếu `space_unigram_32k.model` không khớp tokenizer lúc train, token id sẽ sai và inference không đáng tin.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400800" y="3246120"/>
            <a:ext cx="48920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Validate hiện tại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entities=50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reviews=5000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sentences=45529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aspects=29</a:t>
            </a:r>
            <a:endParaRPr lang="vi-VN" sz="12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TRACEABILITY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Provenance cho từng câu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389120" cy="155448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Aspect summary rows: 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Provenance rows: 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Coverage: 0.0000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File: outputs/space_hasos_full_e20_ranked_provenance.jsonl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5394960" y="1234440"/>
            <a:ext cx="571500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00" dirty="0">
                <a:solidFill>
                  <a:srgbClr val="14213D"/>
                </a:solidFill>
              </a:rPr>
              <a:t>Chưa có provenance sample. Rerun inference với trace_jsonl để sinh outputs/&lt;run_id&gt;_provenance.jsonl.</a:t>
            </a:r>
            <a:endParaRPr lang="vi-VN" sz="1000"/>
          </a:p>
        </p:txBody>
      </p:sp>
      <p:sp>
        <p:nvSpPr>
          <p:cNvPr id="7" name="Text 7"/>
          <p:cNvSpPr txBox="1"/>
          <p:nvPr/>
        </p:nvSpPr>
        <p:spPr>
          <a:xfrm>
            <a:off x="685800" y="3703320"/>
            <a:ext cx="10424160" cy="91440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100" dirty="0">
                <a:solidFill>
                  <a:srgbClr val="14213D"/>
                </a:solidFill>
              </a:rPr>
              <a:t>Mỗi câu summary ghi: entity/split/aspect, summary_sentence_index, rank/score/beta, source_review_id, source_sentence_index, matched_aspect_seed, sentiment_label, matched_sentiment_keywords, was_truncated. Metric mới source_fidelity_excl_truncated loại câu bị cắt khỏi exact-match denominator.</a:t>
            </a:r>
            <a:endParaRPr lang="vi-VN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FORMULA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SemAE scoring theo aspect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31520" y="1325880"/>
            <a:ext cx="104241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900" dirty="0">
                <a:b/>
                <a:solidFill>
                  <a:srgbClr val="14213D"/>
                </a:solidFill>
              </a:rPr>
              <a:t>score(s, k) = KL(D_z(s) || P_z) - beta * KL(D_z(s) || P_k)</a:t>
            </a:r>
            <a:endParaRPr lang="vi-VN" sz="1900"/>
          </a:p>
        </p:txBody>
      </p:sp>
      <p:sp>
        <p:nvSpPr>
          <p:cNvPr id="6" name="Text 6"/>
          <p:cNvSpPr txBox="1"/>
          <p:nvPr/>
        </p:nvSpPr>
        <p:spPr>
          <a:xfrm>
            <a:off x="822960" y="2286000"/>
            <a:ext cx="521208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D_z(s): phân phối cluster của câu s.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P_z: background distribution.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P_k: prototype distribution của aspect k.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beta=0.7 theo recipe hiện tại.</a:t>
            </a:r>
            <a:endParaRPr lang="vi-VN" sz="1250"/>
          </a:p>
        </p:txBody>
      </p:sp>
      <p:sp>
        <p:nvSpPr>
          <p:cNvPr id="7" name="Text 7"/>
          <p:cNvSpPr txBox="1"/>
          <p:nvPr/>
        </p:nvSpPr>
        <p:spPr>
          <a:xfrm>
            <a:off x="6400800" y="2286000"/>
            <a:ext cx="4937760" cy="123444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Câu có score thấp hơn được ưu tiên. Bản abstractive mới không đọc summary đã truncate; nó đọc top-5 ranked evidence full sentence rồi sinh summary ngắn.</a:t>
            </a:r>
            <a:endParaRPr lang="vi-VN" sz="12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OLD BASELINE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SPACE original aspects: official ROUGE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10378440" cy="86868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120" dirty="0">
                <a:solidFill>
                  <a:srgbClr val="14213D"/>
                </a:solidFill>
              </a:rPr>
              <a:t>Bản cũ dùng đúng SPACE benchmark và 6 aspect gốc: building, cleanliness, food, location, rooms, service. Run này chạy without --no_eval nên điểm dưới đây là pyrouge official, khác với HASOS reference-free metrics.</a:t>
            </a:r>
            <a:endParaRPr lang="vi-VN" sz="1120"/>
          </a:p>
        </p:txBody>
      </p:sp>
      <p:sp>
        <p:nvSpPr>
          <p:cNvPr id="6" name="Text 6"/>
          <p:cNvSpPr txBox="1"/>
          <p:nvPr/>
        </p:nvSpPr>
        <p:spPr>
          <a:xfrm>
            <a:off x="777240" y="2423160"/>
            <a:ext cx="45262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Macro F1 by split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DEV   R1=0.3068  R2=0.0827  RL=0.2195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TEST  R1=0.3002  R2=0.0879  RL=0.2179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ALL   R1=0.3033  R2=0.0857  RL=0.2188</a:t>
            </a:r>
            <a:endParaRPr lang="vi-VN" sz="1250"/>
          </a:p>
        </p:txBody>
      </p:sp>
      <p:sp>
        <p:nvSpPr>
          <p:cNvPr id="7" name="Text 7"/>
          <p:cNvSpPr txBox="1"/>
          <p:nvPr/>
        </p:nvSpPr>
        <p:spPr>
          <a:xfrm>
            <a:off x="5623560" y="2240280"/>
            <a:ext cx="5440680" cy="24231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850" dirty="0">
                <a:solidFill>
                  <a:srgbClr val="14213D"/>
                </a:solidFill>
              </a:rPr>
              <a:t>ALL split by aspect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R1 / R2 / RL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building     0.2656 / 0.0591 / 0.1939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cleanliness  0.2653 / 0.0803 / 0.2159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food         0.3090 / 0.0917 / 0.2183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location     0.3413 / 0.1072 / 0.2334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rooms        0.3441 / 0.0869 / 0.2345</a:t>
            </a:r>
            <a:endParaRPr lang="vi-VN" sz="850"/>
          </a:p>
          <a:p>
            <a:r>
              <a:rPr lang="vi-VN" sz="850" dirty="0">
                <a:solidFill>
                  <a:srgbClr val="14213D"/>
                </a:solidFill>
              </a:rPr>
              <a:t>service      0.2943 / 0.0888 / 0.2171</a:t>
            </a:r>
            <a:endParaRPr lang="vi-VN" sz="850"/>
          </a:p>
        </p:txBody>
      </p:sp>
      <p:sp>
        <p:nvSpPr>
          <p:cNvPr id="8" name="Text 8"/>
          <p:cNvSpPr txBox="1"/>
          <p:nvPr/>
        </p:nvSpPr>
        <p:spPr>
          <a:xfrm>
            <a:off x="777240" y="4892040"/>
            <a:ext cx="10195560" cy="50292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Kết luận so sánh: HASOS 29 aspects là adaptation/inference mới không có gold summary; SPACE original 6 aspects là baseline có gold và có thể so sánh bằng ROUGE.</a:t>
            </a:r>
            <a:endParaRPr lang="vi-VN" sz="10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 CORRECTION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Từ extractive sang abstractive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5029200" cy="150876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Vấn đề bạn thấy là đúng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Output SemAE gốc trong run này là extractive: chọn câu source rồi nối lại. Với max_tokens=40, câu cuối có thể bị cắt cụt như `Each room is named... and one of`.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989320" y="1234440"/>
            <a:ext cx="5074920" cy="15087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Trạng thái artifact synthesis local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Synthesis rows tìm thấy: 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Ranked evidence rows: 6850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Deck sẽ không còn trình bày output extractive bị cắt như final summary.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85800" y="3246120"/>
            <a:ext cx="103784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180" dirty="0">
                <a:solidFill>
                  <a:srgbClr val="14213D"/>
                </a:solidFill>
              </a:rPr>
              <a:t>Cách sửa chuẩn</a:t>
            </a:r>
            <a:endParaRPr lang="vi-VN" sz="1180"/>
          </a:p>
          <a:p>
            <a:r>
              <a:rPr lang="vi-VN" sz="1180" dirty="0">
                <a:solidFill>
                  <a:srgbClr val="14213D"/>
                </a:solidFill>
              </a:rPr>
              <a:t>1. Rerun inference để sinh outputs/&lt;run_id&gt;_ranked_evidence.jsonl với full sentence trước truncate.</a:t>
            </a:r>
            <a:endParaRPr lang="vi-VN" sz="1180"/>
          </a:p>
          <a:p>
            <a:r>
              <a:rPr lang="vi-VN" sz="1180" dirty="0">
                <a:solidFill>
                  <a:srgbClr val="14213D"/>
                </a:solidFill>
              </a:rPr>
              <a:t>2. Run synthesize_aspect_summaries.py --source_mode ranked_evidence.</a:t>
            </a:r>
            <a:endParaRPr lang="vi-VN" sz="1180"/>
          </a:p>
          <a:p>
            <a:r>
              <a:rPr lang="vi-VN" sz="1180" dirty="0">
                <a:solidFill>
                  <a:srgbClr val="14213D"/>
                </a:solidFill>
              </a:rPr>
              <a:t>3. Build lại deck; slide output sẽ lấy abstractive summary đã lọc prompt echo/hallucination.</a:t>
            </a:r>
            <a:endParaRPr lang="vi-VN" sz="118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Top-5 evidence + FLAN-T5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143000"/>
            <a:ext cx="2880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b/>
                <a:solidFill>
                  <a:srgbClr val="14213D"/>
                </a:solidFill>
              </a:rPr>
              <a:t>Entity: 100585</a:t>
            </a:r>
            <a:endParaRPr lang="vi-VN" sz="1150"/>
          </a:p>
          <a:p>
            <a:r>
              <a:rPr lang="vi-VN" sz="1150" dirty="0">
                <a:b/>
                <a:solidFill>
                  <a:srgbClr val="14213D"/>
                </a:solidFill>
              </a:rPr>
              <a:t>Aspect: FAC_ROOM</a:t>
            </a:r>
            <a:endParaRPr lang="vi-VN" sz="1150"/>
          </a:p>
          <a:p>
            <a:r>
              <a:rPr lang="vi-VN" sz="1150" dirty="0">
                <a:b/>
                <a:solidFill>
                  <a:srgbClr val="14213D"/>
                </a:solidFill>
              </a:rPr>
              <a:t>Model: google/flan-t5-base</a:t>
            </a:r>
            <a:endParaRPr lang="vi-VN" sz="1150"/>
          </a:p>
        </p:txBody>
      </p:sp>
      <p:sp>
        <p:nvSpPr>
          <p:cNvPr id="6" name="Text 6"/>
          <p:cNvSpPr txBox="1"/>
          <p:nvPr/>
        </p:nvSpPr>
        <p:spPr>
          <a:xfrm>
            <a:off x="3794760" y="1143000"/>
            <a:ext cx="731520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720" dirty="0">
                <a:solidFill>
                  <a:srgbClr val="14213D"/>
                </a:solidFill>
              </a:rPr>
              <a:t>Top-5 evidence used as source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1. rank=1 score=0.004206815734505653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The minus was for the slightly worn out chair in the room, a bath towel that had seen better days, and the rather high parking rate - $30/night.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/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2. rank=2 score=0.004822632297873497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The first night my room overlooked a parking lot, and even though it was a fifth floor room, it felt like I was looking into the headlights.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/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3. rank=3 score=0.005135664716362953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The room was well appointed, with an excellent mini bar, soft robes, slipper socks for chilly feet (purchase), and quality toiletry items.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/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4. rank=4 score=0.005199769511818886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Although the bed was comfortable, it was noisy and squeaky for two, and we needed an extra blanket.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/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5. rank=5 score=0.005245797336101532</a:t>
            </a:r>
            <a:endParaRPr lang="vi-VN" sz="720"/>
          </a:p>
          <a:p>
            <a:r>
              <a:rPr lang="vi-VN" sz="720" dirty="0">
                <a:solidFill>
                  <a:srgbClr val="14213D"/>
                </a:solidFill>
              </a:rPr>
              <a:t>The room and the bathroom we had, were quite small and dark, with an uninteresting view from the window.</a:t>
            </a:r>
            <a:endParaRPr lang="vi-VN" sz="720"/>
          </a:p>
        </p:txBody>
      </p:sp>
      <p:sp>
        <p:nvSpPr>
          <p:cNvPr id="7" name="Text 7"/>
          <p:cNvSpPr txBox="1"/>
          <p:nvPr/>
        </p:nvSpPr>
        <p:spPr>
          <a:xfrm>
            <a:off x="685800" y="4251960"/>
            <a:ext cx="10424160" cy="96012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980" dirty="0">
                <a:solidFill>
                  <a:srgbClr val="14213D"/>
                </a:solidFill>
              </a:rPr>
              <a:t>FLAN-T5 output</a:t>
            </a:r>
            <a:endParaRPr lang="vi-VN" sz="980"/>
          </a:p>
          <a:p>
            <a:r>
              <a:rPr lang="vi-VN" sz="980" dirty="0">
                <a:solidFill>
                  <a:srgbClr val="14213D"/>
                </a:solidFill>
              </a:rPr>
              <a:t>Room, Bed &amp; Sleep Quality (FAC_ROOM): The room was well appointed, with an excellent mini bar, soft robes, slipper socks for chilly feet (purchase), and quality toiletry items. The first night my room overlooked a parking lot, and even though it was a fifth floor room, it felt like I was looking into the headlights</a:t>
            </a:r>
            <a:endParaRPr lang="vi-VN" sz="98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 DETAIL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Evidence đa aspect + top-5 nghĩa là gì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143000"/>
            <a:ext cx="640080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780" dirty="0">
                <a:solidFill>
                  <a:srgbClr val="14213D"/>
                </a:solidFill>
              </a:rPr>
              <a:t>Không tìm thấy aspect evidence examples.</a:t>
            </a:r>
            <a:endParaRPr lang="vi-VN" sz="780"/>
          </a:p>
        </p:txBody>
      </p:sp>
      <p:sp>
        <p:nvSpPr>
          <p:cNvPr id="6" name="Text 6"/>
          <p:cNvSpPr txBox="1"/>
          <p:nvPr/>
        </p:nvSpPr>
        <p:spPr>
          <a:xfrm>
            <a:off x="7315200" y="1143000"/>
            <a:ext cx="3886200" cy="205740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930" dirty="0">
                <a:solidFill>
                  <a:srgbClr val="14213D"/>
                </a:solidFill>
              </a:rPr>
              <a:t>Top-5 đang nói tới gì?</a:t>
            </a:r>
            <a:endParaRPr lang="vi-VN" sz="930"/>
          </a:p>
          <a:p>
            <a:r>
              <a:rPr lang="vi-VN" sz="930" dirty="0">
                <a:solidFill>
                  <a:srgbClr val="14213D"/>
                </a:solidFill>
              </a:rPr>
              <a:t>- Top-5 = tối đa 5 evidence sentences cho mỗi cặp entity/aspect.</a:t>
            </a:r>
            <a:endParaRPr lang="vi-VN" sz="930"/>
          </a:p>
          <a:p>
            <a:r>
              <a:rPr lang="vi-VN" sz="930" dirty="0">
                <a:solidFill>
                  <a:srgbClr val="14213D"/>
                </a:solidFill>
              </a:rPr>
              <a:t>- Không phải top 5 aspect.</a:t>
            </a:r>
            <a:endParaRPr lang="vi-VN" sz="930"/>
          </a:p>
          <a:p>
            <a:r>
              <a:rPr lang="vi-VN" sz="930" dirty="0">
                <a:solidFill>
                  <a:srgbClr val="14213D"/>
                </a:solidFill>
              </a:rPr>
              <a:t>- Slide trước chỉ hiện 1 sample vì deck đang lấy first synthesis row hợp lệ.</a:t>
            </a:r>
            <a:endParaRPr lang="vi-VN" sz="930"/>
          </a:p>
          <a:p>
            <a:r>
              <a:rPr lang="vi-VN" sz="930" dirty="0">
                <a:solidFill>
                  <a:srgbClr val="14213D"/>
                </a:solidFill>
              </a:rPr>
              <a:t>- Máy local hiện không có ranked_evidence full; chỉ còn artifact test cũ của AM_ENT.</a:t>
            </a:r>
            <a:endParaRPr lang="vi-VN" sz="930"/>
          </a:p>
        </p:txBody>
      </p:sp>
      <p:sp>
        <p:nvSpPr>
          <p:cNvPr id="7" name="Text 7"/>
          <p:cNvSpPr txBox="1"/>
          <p:nvPr/>
        </p:nvSpPr>
        <p:spPr>
          <a:xfrm>
            <a:off x="7315200" y="3520440"/>
            <a:ext cx="3886200" cy="123444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860" dirty="0">
                <a:solidFill>
                  <a:srgbClr val="14213D"/>
                </a:solidFill>
              </a:rPr>
              <a:t>Cách đọc slide</a:t>
            </a:r>
            <a:endParaRPr lang="vi-VN" sz="860"/>
          </a:p>
          <a:p>
            <a:r>
              <a:rPr lang="vi-VN" sz="860" dirty="0">
                <a:solidFill>
                  <a:srgbClr val="14213D"/>
                </a:solidFill>
              </a:rPr>
              <a:t>Bên trái là nhiều aspect khác nhau từ extractive evidence. Nó giúp thấy coverage theo aspect. Output synthesis đầy đủ cần artifact ranked_evidence/synthesis full; nếu artifact đó chưa ở local thì deck không thể tự dựng đủ top-5 synthesis.</a:t>
            </a:r>
            <a:endParaRPr lang="vi-VN" sz="86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QUALITY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Metrics và health checks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77240" y="1325880"/>
            <a:ext cx="470916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source_fidelity: n/a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source_fidelity_excl_truncated: n/a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aspect_purity: n/a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distinct_2: n/a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self_bleu4: n/a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5577840" y="1325880"/>
            <a:ext cx="5486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HASOS không có gold summary nên dùng reference-free metrics: fidelity, purity, diversity, compression. BERTScore có thể chạy thêm nếu dependency/model tải được.</a:t>
            </a:r>
            <a:endParaRPr lang="vi-VN" sz="12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CAVEATS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Limitations và quyết định kỹ thuật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77240" y="1325880"/>
            <a:ext cx="103327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1. Sentiment là keyword post-processing, không phải sentiment-aware ranking.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2. Abstractive summary không còn verbatim traceable như extractive output, nhưng mỗi row giữ top-5 evidence provenance.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3. Tokenizer là artifact bắt buộc và phải sync cùng checkpoint.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4. Không dùng output đã truncate làm input synthesis.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777240" y="4160520"/>
            <a:ext cx="10332720" cy="5943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b/>
                <a:solidFill>
                  <a:srgbClr val="14213D"/>
                </a:solidFill>
              </a:rPr>
              <a:t>Final deck path: outputs/space_hasos_full_e20_ranked_report.pptx</a:t>
            </a:r>
            <a:endParaRPr lang="vi-V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mAE">
  <a:themeElements>
    <a:clrScheme name="SemAE">
      <a:dk1>
        <a:srgbClr val="14213D"/>
      </a:dk1>
      <a:lt1>
        <a:srgbClr val="FFFFFF"/>
      </a:lt1>
      <a:dk2>
        <a:srgbClr val="56616F"/>
      </a:dk2>
      <a:lt2>
        <a:srgbClr val="F8FAFC"/>
      </a:lt2>
      <a:accent1>
        <a:srgbClr val="2563EB"/>
      </a:accent1>
      <a:accent2>
        <a:srgbClr val="0F766E"/>
      </a:accent2>
      <a:accent3>
        <a:srgbClr val="B7791F"/>
      </a:accent3>
      <a:accent4>
        <a:srgbClr val="B42318"/>
      </a:accent4>
      <a:accent5>
        <a:srgbClr val="64748B"/>
      </a:accent5>
      <a:accent6>
        <a:srgbClr val="0EA5E9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SemA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SemAE pipeline</Application>
  <PresentationFormat>Widescreen</PresentationFormat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SemAE HASOS pipeline report</dc:title>
  <dc:creator>SemAE pipeline</dc:creator>
  <cp:lastModifiedBy>SemAE pipeline</cp:lastModifiedBy>
  <dcterms:created xsi:type="dcterms:W3CDTF">2026-06-10T13:31:46.542094+00:00</dcterms:created>
  <dcterms:modified xsi:type="dcterms:W3CDTF">2026-06-10T13:31:46.542094+00:00</dcterms:modified>
</cp:coreProperties>
</file>