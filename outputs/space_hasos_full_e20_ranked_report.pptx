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SPACE_HASOS_FULL_E20_RANKED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SPACE-trained SemAE cho HASOS aspect/sentiment summary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32588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1550" dirty="0">
                <a:solidFill>
                  <a:srgbClr val="14213D"/>
                </a:solidFill>
              </a:rPr>
              <a:t>Deck này ghi lại pipeline sau training: SemAE checkpoint được dùng để rank câu theo 29 HASOS aspects. Bản sửa mới lấy top-5 ranked evidence đầy đủ trước khi truncate rồi synthesize bằng FLAN/T5 summarization model.</a:t>
            </a:r>
            <a:endParaRPr lang="vi-VN" sz="1550"/>
          </a:p>
        </p:txBody>
      </p:sp>
      <p:sp>
        <p:nvSpPr>
          <p:cNvPr id="6" name="Text 6"/>
          <p:cNvSpPr txBox="1"/>
          <p:nvPr/>
        </p:nvSpPr>
        <p:spPr>
          <a:xfrm>
            <a:off x="6629400" y="1325880"/>
            <a:ext cx="44805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Training: SPACE training run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Output modes: extractive + abstractive_ranked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HASOS aspects: 29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Trace rows: 0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Ranked evidence rows: 6850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Synthesis rows: 1370</a:t>
            </a:r>
            <a:endParaRPr lang="vi-VN" sz="1200"/>
          </a:p>
        </p:txBody>
      </p:sp>
      <p:sp>
        <p:nvSpPr>
          <p:cNvPr id="7" name="Text 7"/>
          <p:cNvSpPr txBox="1"/>
          <p:nvPr/>
        </p:nvSpPr>
        <p:spPr>
          <a:xfrm>
            <a:off x="685800" y="3337560"/>
            <a:ext cx="104241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300" dirty="0">
                <a:solidFill>
                  <a:srgbClr val="14213D"/>
                </a:solidFill>
              </a:rPr>
              <a:t>Corrected flow: SemAE scoring -&gt; top-5 full ranked evidence -&gt; FLAN/T5 abstractive summary. Extractive/sentiment outputs vẫn giữ để audit, nhưng không còn là input cho abstractive synthesis.</a:t>
            </a:r>
            <a:endParaRPr lang="vi-VN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MECHANISM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Pipeline từ input tới output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1 Input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hasos_summ.json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reviews grouped by entity</a:t>
            </a:r>
            <a:endParaRPr lang="vi-VN" sz="1050"/>
          </a:p>
        </p:txBody>
      </p:sp>
      <p:sp>
        <p:nvSpPr>
          <p:cNvPr id="6" name="Text 6"/>
          <p:cNvSpPr txBox="1"/>
          <p:nvPr/>
        </p:nvSpPr>
        <p:spPr>
          <a:xfrm>
            <a:off x="274320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2 Tokenize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SPACE SentencePiece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same tokenizer as checkpoint</a:t>
            </a:r>
            <a:endParaRPr lang="vi-VN" sz="1050"/>
          </a:p>
        </p:txBody>
      </p:sp>
      <p:sp>
        <p:nvSpPr>
          <p:cNvPr id="7" name="Text 7"/>
          <p:cNvSpPr txBox="1"/>
          <p:nvPr/>
        </p:nvSpPr>
        <p:spPr>
          <a:xfrm>
            <a:off x="489204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3 Encode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SemAE cluster distribution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D_z(s) per sentence</a:t>
            </a:r>
            <a:endParaRPr lang="vi-VN" sz="1050"/>
          </a:p>
        </p:txBody>
      </p:sp>
      <p:sp>
        <p:nvSpPr>
          <p:cNvPr id="8" name="Text 8"/>
          <p:cNvSpPr txBox="1"/>
          <p:nvPr/>
        </p:nvSpPr>
        <p:spPr>
          <a:xfrm>
            <a:off x="704088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4 Aspect rank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KL(D_z||P_z) - beta*KL(D_z||P_k)</a:t>
            </a:r>
            <a:endParaRPr lang="vi-VN" sz="1050"/>
          </a:p>
        </p:txBody>
      </p:sp>
      <p:sp>
        <p:nvSpPr>
          <p:cNvPr id="9" name="Text 9"/>
          <p:cNvSpPr txBox="1"/>
          <p:nvPr/>
        </p:nvSpPr>
        <p:spPr>
          <a:xfrm>
            <a:off x="9189720" y="1325880"/>
            <a:ext cx="20116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5 Synthesize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top-5 full evidence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FLAN/T5 summary</a:t>
            </a:r>
            <a:endParaRPr lang="vi-VN" sz="1050"/>
          </a:p>
        </p:txBody>
      </p:sp>
      <p:sp>
        <p:nvSpPr>
          <p:cNvPr id="10" name="Text 10"/>
          <p:cNvSpPr txBox="1"/>
          <p:nvPr/>
        </p:nvSpPr>
        <p:spPr>
          <a:xfrm>
            <a:off x="685800" y="3429000"/>
            <a:ext cx="10424160" cy="77724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Biến thể so với SemAE gốc: taxonomy/seeds đổi sang HASOS 29 aspects. Abstractive stage dùng ranked evidence trước truncate; sentiment split chỉ là audit post-processing.</a:t>
            </a:r>
            <a:endParaRPr lang="vi-V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READINESS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Artifact gate và dữ liệu chuẩn bị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539496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00" dirty="0">
                <a:solidFill>
                  <a:srgbClr val="14213D"/>
                </a:solidFill>
              </a:rPr>
              <a:t>Trace chưa có.</a:t>
            </a:r>
            <a:endParaRPr lang="vi-VN" sz="1000"/>
          </a:p>
        </p:txBody>
      </p:sp>
      <p:sp>
        <p:nvSpPr>
          <p:cNvPr id="6" name="Text 6"/>
          <p:cNvSpPr txBox="1"/>
          <p:nvPr/>
        </p:nvSpPr>
        <p:spPr>
          <a:xfrm>
            <a:off x="6400800" y="1234440"/>
            <a:ext cx="4892040" cy="169164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Hard gate quan trọng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Checkpoint SemAE không tự chứa SentencePiece model. Nếu `space_unigram_32k.model` không khớp tokenizer lúc train, token id sẽ sai và inference không đáng tin.</a:t>
            </a:r>
            <a:endParaRPr lang="vi-VN" sz="1200"/>
          </a:p>
        </p:txBody>
      </p:sp>
      <p:sp>
        <p:nvSpPr>
          <p:cNvPr id="7" name="Text 7"/>
          <p:cNvSpPr txBox="1"/>
          <p:nvPr/>
        </p:nvSpPr>
        <p:spPr>
          <a:xfrm>
            <a:off x="6400800" y="3246120"/>
            <a:ext cx="4892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Validate hiện tại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entities=50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reviews=5000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sentences=45529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aspects=29</a:t>
            </a:r>
            <a:endParaRPr lang="vi-VN"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TRACEABILITY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Provenance cho từng câu output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389120" cy="155448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Aspect summary rows: 7942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Provenance rows: 7942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Coverage: 1.0000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File: outputs/space_hasos_full_e20_ranked_provenance.jsonl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5394960" y="1234440"/>
            <a:ext cx="57150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00" dirty="0">
                <a:solidFill>
                  <a:srgbClr val="14213D"/>
                </a:solidFill>
              </a:rPr>
              <a:t>entity=100597 | aspect=FAC_ROOM | rank=1 | review=UR116685264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seed=['room'] | sentiment=pos ['clean', 'comfortable']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sentence: We had a balcony, the beds were super comfortable, room was a good size and clean.</a:t>
            </a:r>
            <a:endParaRPr lang="vi-VN" sz="1000"/>
          </a:p>
        </p:txBody>
      </p:sp>
      <p:sp>
        <p:nvSpPr>
          <p:cNvPr id="7" name="Text 7"/>
          <p:cNvSpPr txBox="1"/>
          <p:nvPr/>
        </p:nvSpPr>
        <p:spPr>
          <a:xfrm>
            <a:off x="685800" y="3703320"/>
            <a:ext cx="10424160" cy="91440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100" dirty="0">
                <a:solidFill>
                  <a:srgbClr val="14213D"/>
                </a:solidFill>
              </a:rPr>
              <a:t>Mỗi câu summary ghi: entity/split/aspect, summary_sentence_index, rank/score/beta, source_review_id, source_sentence_index, matched_aspect_seed, sentiment_label, matched_sentiment_keywords, was_truncated. Metric mới source_fidelity_excl_truncated loại câu bị cắt khỏi exact-match denominator.</a:t>
            </a:r>
            <a:endParaRPr lang="vi-VN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FORMULA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SemAE scoring theo aspect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731520" y="1325880"/>
            <a:ext cx="104241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900" dirty="0">
                <a:b/>
                <a:solidFill>
                  <a:srgbClr val="14213D"/>
                </a:solidFill>
              </a:rPr>
              <a:t>score(s, k) = KL(D_z(s) || P_z) - beta * KL(D_z(s) || P_k)</a:t>
            </a:r>
            <a:endParaRPr lang="vi-VN" sz="1900"/>
          </a:p>
        </p:txBody>
      </p:sp>
      <p:sp>
        <p:nvSpPr>
          <p:cNvPr id="6" name="Text 6"/>
          <p:cNvSpPr txBox="1"/>
          <p:nvPr/>
        </p:nvSpPr>
        <p:spPr>
          <a:xfrm>
            <a:off x="822960" y="2286000"/>
            <a:ext cx="52120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D_z(s): phân phối cluster của câu s.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P_z: background distribution.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P_k: prototype distribution của aspect k.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beta=0.7 theo recipe hiện tại.</a:t>
            </a:r>
            <a:endParaRPr lang="vi-VN" sz="1250"/>
          </a:p>
        </p:txBody>
      </p:sp>
      <p:sp>
        <p:nvSpPr>
          <p:cNvPr id="7" name="Text 7"/>
          <p:cNvSpPr txBox="1"/>
          <p:nvPr/>
        </p:nvSpPr>
        <p:spPr>
          <a:xfrm>
            <a:off x="6400800" y="2286000"/>
            <a:ext cx="4937760" cy="123444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Câu có score thấp hơn được ưu tiên. Bản abstractive mới không đọc summary đã truncate; nó đọc top-5 ranked evidence full sentence rồi sinh summary ngắn.</a:t>
            </a:r>
            <a:endParaRPr lang="vi-VN" sz="1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OLD BASELINE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SPACE original aspects: official ROUGE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10378440" cy="86868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r>
              <a:rPr lang="vi-VN" sz="1120" dirty="0">
                <a:solidFill>
                  <a:srgbClr val="14213D"/>
                </a:solidFill>
              </a:rPr>
              <a:t>Bản cũ dùng đúng SPACE benchmark và 6 aspect gốc: building, cleanliness, food, location, rooms, service. Run này chạy without --no_eval nên điểm dưới đây là pyrouge official, khác với HASOS reference-free metrics.</a:t>
            </a:r>
            <a:endParaRPr lang="vi-VN" sz="1120"/>
          </a:p>
        </p:txBody>
      </p:sp>
      <p:sp>
        <p:nvSpPr>
          <p:cNvPr id="6" name="Text 6"/>
          <p:cNvSpPr txBox="1"/>
          <p:nvPr/>
        </p:nvSpPr>
        <p:spPr>
          <a:xfrm>
            <a:off x="777240" y="2423160"/>
            <a:ext cx="45262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Macro F1 by split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DEV   R1=0.3068  R2=0.0827  RL=0.2195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TEST  R1=0.3002  R2=0.0879  RL=0.2179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ALL   R1=0.3033  R2=0.0857  RL=0.2188</a:t>
            </a:r>
            <a:endParaRPr lang="vi-VN" sz="1250"/>
          </a:p>
        </p:txBody>
      </p:sp>
      <p:sp>
        <p:nvSpPr>
          <p:cNvPr id="7" name="Text 7"/>
          <p:cNvSpPr txBox="1"/>
          <p:nvPr/>
        </p:nvSpPr>
        <p:spPr>
          <a:xfrm>
            <a:off x="5623560" y="2240280"/>
            <a:ext cx="5440680" cy="242316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850" dirty="0">
                <a:solidFill>
                  <a:srgbClr val="14213D"/>
                </a:solidFill>
              </a:rPr>
              <a:t>ALL split by aspect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R1 / R2 / RL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building     0.2656 / 0.0591 / 0.1939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cleanliness  0.2653 / 0.0803 / 0.2159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food         0.3090 / 0.0917 / 0.2183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location     0.3413 / 0.1072 / 0.2334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rooms        0.3441 / 0.0869 / 0.2345</a:t>
            </a:r>
            <a:endParaRPr lang="vi-VN" sz="850"/>
          </a:p>
          <a:p>
            <a:r>
              <a:rPr lang="vi-VN" sz="850" dirty="0">
                <a:solidFill>
                  <a:srgbClr val="14213D"/>
                </a:solidFill>
              </a:rPr>
              <a:t>service      0.2943 / 0.0888 / 0.2171</a:t>
            </a:r>
            <a:endParaRPr lang="vi-VN" sz="850"/>
          </a:p>
        </p:txBody>
      </p:sp>
      <p:sp>
        <p:nvSpPr>
          <p:cNvPr id="8" name="Text 8"/>
          <p:cNvSpPr txBox="1"/>
          <p:nvPr/>
        </p:nvSpPr>
        <p:spPr>
          <a:xfrm>
            <a:off x="777240" y="4892040"/>
            <a:ext cx="10195560" cy="50292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Kết luận so sánh: HASOS 29 aspects là adaptation/inference mới không có gold summary; SPACE original 6 aspects là baseline có gold và có thể so sánh bằng ROUGE.</a:t>
            </a:r>
            <a:endParaRPr lang="vi-VN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OUTPUT 1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Top-5 ranked evidence dùng cho synthesis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2926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b/>
                <a:solidFill>
                  <a:srgbClr val="14213D"/>
                </a:solidFill>
              </a:rPr>
              <a:t>Entity: 100585</a:t>
            </a:r>
            <a:endParaRPr lang="vi-VN" sz="1250"/>
          </a:p>
          <a:p>
            <a:r>
              <a:rPr lang="vi-VN" sz="1250" dirty="0">
                <a:b/>
                <a:solidFill>
                  <a:srgbClr val="14213D"/>
                </a:solidFill>
              </a:rPr>
              <a:t>Aspect: AM_ENT</a:t>
            </a:r>
            <a:endParaRPr lang="vi-VN" sz="1250"/>
          </a:p>
          <a:p>
            <a:r>
              <a:rPr lang="vi-VN" sz="1250" dirty="0">
                <a:b/>
                <a:solidFill>
                  <a:srgbClr val="14213D"/>
                </a:solidFill>
              </a:rPr>
              <a:t>Model: google/flan-t5-base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3794760" y="1234440"/>
            <a:ext cx="73152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1. rank=1 score=0.0009499341249465942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I filled out one of their comment cards with a minor complaint (we found the tv system cumbersome) and I actualy received an e mail from the hotel management!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/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2. rank=2 score=0.001678435131907463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Each room is named after a Washington winery, and one of the hotel's TV channels broadcasts a WA wine country documentary 24/7.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/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3. rank=3 score=0.0018258243799209595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The little work out room is kind of a joke, but it is a clean and well appointed joke...the TV (w/headphones) on the exercise machines is nice.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/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4. rank=4 score=0.0027439258992671967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But there was in-room yoga on the TV and they gave me a yoga mat.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/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5. rank=5 score=0.0034844130277633667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While I do have some small quibbles with the property--there is no Fox News on the TV, it is very difficult to get into the on-site garage during peak traffic times, there is no view from the rooms, the lobb...</a:t>
            </a:r>
            <a:endParaRPr lang="vi-VN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OUTPUT 2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FLAN/T5 abstractive summary từ ranked evidence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105156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The hotel is a great place to relax and have a good time.</a:t>
            </a:r>
            <a:endParaRPr lang="vi-VN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QUALITY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Metrics và health checks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777240" y="1325880"/>
            <a:ext cx="47091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source_fidelity: n/a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source_fidelity_excl_truncated: n/a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aspect_purity: n/a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distinct_2: n/a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self_bleu4: n/a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5577840" y="1325880"/>
            <a:ext cx="5486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HASOS không có gold summary nên dùng reference-free metrics: fidelity, purity, diversity, compression. BERTScore có thể chạy thêm nếu dependency/model tải được.</a:t>
            </a:r>
            <a:endParaRPr lang="vi-VN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CAVEATS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Limitations và quyết định kỹ thuật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777240" y="1325880"/>
            <a:ext cx="1033272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1. Sentiment là keyword post-processing, không phải sentiment-aware ranking.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2. Abstractive summary không còn verbatim traceable như extractive output, nhưng mỗi row giữ top-5 evidence provenance.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3. Tokenizer là artifact bắt buộc và phải sync cùng checkpoint.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4. Không dùng output đã truncate làm input synthesis.</a:t>
            </a:r>
            <a:endParaRPr lang="vi-VN" sz="1250"/>
          </a:p>
        </p:txBody>
      </p:sp>
      <p:sp>
        <p:nvSpPr>
          <p:cNvPr id="6" name="Text 6"/>
          <p:cNvSpPr txBox="1"/>
          <p:nvPr/>
        </p:nvSpPr>
        <p:spPr>
          <a:xfrm>
            <a:off x="777240" y="4160520"/>
            <a:ext cx="10332720" cy="59436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300" dirty="0">
                <a:b/>
                <a:solidFill>
                  <a:srgbClr val="14213D"/>
                </a:solidFill>
              </a:rPr>
              <a:t>Final deck path: outputs/space_hasos_full_e20_ranked_report.pptx</a:t>
            </a:r>
            <a:endParaRPr lang="vi-VN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AE">
  <a:themeElements>
    <a:clrScheme name="SemAE">
      <a:dk1>
        <a:srgbClr val="14213D"/>
      </a:dk1>
      <a:lt1>
        <a:srgbClr val="FFFFFF"/>
      </a:lt1>
      <a:dk2>
        <a:srgbClr val="56616F"/>
      </a:dk2>
      <a:lt2>
        <a:srgbClr val="F8FAFC"/>
      </a:lt2>
      <a:accent1>
        <a:srgbClr val="2563EB"/>
      </a:accent1>
      <a:accent2>
        <a:srgbClr val="0F766E"/>
      </a:accent2>
      <a:accent3>
        <a:srgbClr val="B7791F"/>
      </a:accent3>
      <a:accent4>
        <a:srgbClr val="B42318"/>
      </a:accent4>
      <a:accent5>
        <a:srgbClr val="64748B"/>
      </a:accent5>
      <a:accent6>
        <a:srgbClr val="0EA5E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emA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SemAE pipeline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SemAE HASOS pipeline report</dc:title>
  <dc:creator>SemAE pipeline</dc:creator>
  <cp:lastModifiedBy>SemAE pipeline</cp:lastModifiedBy>
  <dcterms:created xsi:type="dcterms:W3CDTF">2026-06-10T12:16:03.305466+00:00</dcterms:created>
  <dcterms:modified xsi:type="dcterms:W3CDTF">2026-06-10T12:16:03.305466+00:00</dcterms:modified>
</cp:coreProperties>
</file>