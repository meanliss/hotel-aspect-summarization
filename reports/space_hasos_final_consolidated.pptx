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2"/>
  </p:sldMasterIdLst>
  <p:sldIdLst>
    <p:sldId id="256" r:id="rId1"/>
    <p:sldId id="257" r:id="rId2"/>
    <p:sldId id="258" r:id="rId3"/>
    <p:sldId id="259" r:id="rId4"/>
    <p:sldId id="260" r:id="rId5"/>
    <p:sldId id="261" r:id="rId6"/>
    <p:sldId id="262" r:id="rId7"/>
    <p:sldId id="263" r:id="rId8"/>
    <p:sldId id="264" r:id="rId9"/>
    <p:sldId id="265" r:id="rId10"/>
    <p:sldId id="266" r:id="rId11"/>
  </p:sldIdLst>
  <p:sldSz cx="12192000" cy="6858000" type="wide"/>
  <p:notesSz cx="6858000" cy="9144000"/>
</p:presentation>
</file>

<file path=ppt/presProps.xml><?xml version="1.0" encoding="utf-8"?>
<p:presentationPr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Master" Target="slideMasters/slide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theme" Target="theme/theme1.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SPACE_HASOS_THRESHOLD_FULL</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SPACE-trained SemAE cho HASOS aspect/sentiment summary</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685800" y="1325880"/>
            <a:ext cx="5669280" cy="1005840"/>
          </a:xfrm>
          <a:prstGeom prst="rect">
            <a:avLst/>
          </a:prstGeom>
          <a:noFill/>
          <a:ln>
            <a:noFill/>
          </a:ln>
        </p:spPr>
        <p:txBody>
          <a:bodyPr wrap="square" lIns="91440" tIns="45720" rIns="91440" bIns="45720"/>
          <a:lstStyle/>
          <a:p>
            <a:r>
              <a:rPr lang="vi-VN" sz="1450" dirty="0">
                <a:solidFill>
                  <a:srgbClr val="14213D"/>
                </a:solidFill>
              </a:rPr>
              <a:t>Deck này ghi lại pipeline sau training: SemAE checkpoint được dùng để rank câu theo 29 HASOS aspects. Bản mới giữ mọi evidence có score &lt;= 0.005 rồi synthesize theo 3 tầng bằng FLAN.</a:t>
            </a:r>
            <a:endParaRPr lang="vi-VN" sz="1450"/>
          </a:p>
        </p:txBody>
      </p:sp>
      <p:sp>
        <p:nvSpPr>
          <p:cNvPr id="6" name="Text 6"/>
          <p:cNvSpPr txBox="1"/>
          <p:nvPr/>
        </p:nvSpPr>
        <p:spPr>
          <a:xfrm>
            <a:off x="6629400" y="1234440"/>
            <a:ext cx="4480560" cy="2057400"/>
          </a:xfrm>
          <a:prstGeom prst="rect">
            <a:avLst/>
          </a:prstGeom>
          <a:solidFill>
            <a:srgbClr val="FFFFFF"/>
          </a:solidFill>
          <a:ln w="9525">
            <a:solidFill>
              <a:srgbClr val="D8DEE9"/>
            </a:solidFill>
          </a:ln>
        </p:spPr>
        <p:txBody>
          <a:bodyPr wrap="square" lIns="91440" tIns="45720" rIns="91440" bIns="45720"/>
          <a:lstStyle/>
          <a:p>
            <a:r>
              <a:rPr lang="vi-VN" sz="1150" dirty="0">
                <a:solidFill>
                  <a:srgbClr val="14213D"/>
                </a:solidFill>
              </a:rPr>
              <a:t>Training: SPACE training run</a:t>
            </a:r>
            <a:endParaRPr lang="vi-VN" sz="1150"/>
          </a:p>
          <a:p>
            <a:r>
              <a:rPr lang="vi-VN" sz="1150" dirty="0">
                <a:solidFill>
                  <a:srgbClr val="14213D"/>
                </a:solidFill>
              </a:rPr>
              <a:t>Output modes: extractive + hierarchical abstractive</a:t>
            </a:r>
            <a:endParaRPr lang="vi-VN" sz="1150"/>
          </a:p>
          <a:p>
            <a:r>
              <a:rPr lang="vi-VN" sz="1150" dirty="0">
                <a:solidFill>
                  <a:srgbClr val="14213D"/>
                </a:solidFill>
              </a:rPr>
              <a:t>HASOS aspects: 29</a:t>
            </a:r>
            <a:endParaRPr lang="vi-VN" sz="1150"/>
          </a:p>
          <a:p>
            <a:r>
              <a:rPr lang="vi-VN" sz="1150" dirty="0">
                <a:solidFill>
                  <a:srgbClr val="14213D"/>
                </a:solidFill>
              </a:rPr>
              <a:t>Trace rows: 0</a:t>
            </a:r>
            <a:endParaRPr lang="vi-VN" sz="1150"/>
          </a:p>
          <a:p>
            <a:r>
              <a:rPr lang="vi-VN" sz="1150" dirty="0">
                <a:solidFill>
                  <a:srgbClr val="14213D"/>
                </a:solidFill>
              </a:rPr>
              <a:t>Threshold evidence rows: 2343</a:t>
            </a:r>
            <a:endParaRPr lang="vi-VN" sz="1150"/>
          </a:p>
          <a:p>
            <a:r>
              <a:rPr lang="vi-VN" sz="1150" dirty="0">
                <a:solidFill>
                  <a:srgbClr val="14213D"/>
                </a:solidFill>
              </a:rPr>
              <a:t>Child rows: 823</a:t>
            </a:r>
            <a:endParaRPr lang="vi-VN" sz="1150"/>
          </a:p>
          <a:p>
            <a:r>
              <a:rPr lang="vi-VN" sz="1150" dirty="0">
                <a:solidFill>
                  <a:srgbClr val="14213D"/>
                </a:solidFill>
              </a:rPr>
              <a:t>Parent rows: 297</a:t>
            </a:r>
            <a:endParaRPr lang="vi-VN" sz="1150"/>
          </a:p>
          <a:p>
            <a:r>
              <a:rPr lang="vi-VN" sz="1150" dirty="0">
                <a:solidFill>
                  <a:srgbClr val="14213D"/>
                </a:solidFill>
              </a:rPr>
              <a:t>Entity rows: 50</a:t>
            </a:r>
            <a:endParaRPr lang="vi-VN" sz="1150"/>
          </a:p>
        </p:txBody>
      </p:sp>
      <p:sp>
        <p:nvSpPr>
          <p:cNvPr id="7" name="Text 7"/>
          <p:cNvSpPr txBox="1"/>
          <p:nvPr/>
        </p:nvSpPr>
        <p:spPr>
          <a:xfrm>
            <a:off x="685800" y="3337560"/>
            <a:ext cx="10424160" cy="914400"/>
          </a:xfrm>
          <a:prstGeom prst="rect">
            <a:avLst/>
          </a:prstGeom>
          <a:solidFill>
            <a:srgbClr val="FFFFFF"/>
          </a:solidFill>
          <a:ln w="9525">
            <a:solidFill>
              <a:srgbClr val="D8DEE9"/>
            </a:solidFill>
          </a:ln>
        </p:spPr>
        <p:txBody>
          <a:bodyPr wrap="square" lIns="91440" tIns="45720" rIns="91440" bIns="45720"/>
          <a:lstStyle/>
          <a:p>
            <a:r>
              <a:rPr lang="vi-VN" sz="1250" dirty="0">
                <a:solidFill>
                  <a:srgbClr val="14213D"/>
                </a:solidFill>
              </a:rPr>
              <a:t>Corrected flow: SemAE scoring -&gt; score-threshold evidence -&gt; FLAN-base child aspect summary -&gt; FLAN-base parent summary -&gt; FLAN-base entity summary. Extractive/sentiment outputs vẫn giữ để audit.</a:t>
            </a:r>
            <a:endParaRPr lang="vi-VN" sz="12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MECHANISM</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Pipeline từ input tới output</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594360" y="1325880"/>
            <a:ext cx="1645920" cy="1097280"/>
          </a:xfrm>
          <a:prstGeom prst="rect">
            <a:avLst/>
          </a:prstGeom>
          <a:solidFill>
            <a:srgbClr val="FFFFFF"/>
          </a:solidFill>
          <a:ln w="9525">
            <a:solidFill>
              <a:srgbClr val="D8DEE9"/>
            </a:solidFill>
          </a:ln>
        </p:spPr>
        <p:txBody>
          <a:bodyPr wrap="square" lIns="91440" tIns="45720" rIns="91440" bIns="45720"/>
          <a:lstStyle/>
          <a:p>
            <a:r>
              <a:rPr lang="vi-VN" sz="1050" dirty="0">
                <a:solidFill>
                  <a:srgbClr val="14213D"/>
                </a:solidFill>
              </a:rPr>
              <a:t>1 Data prep</a:t>
            </a:r>
            <a:endParaRPr lang="vi-VN" sz="1050"/>
          </a:p>
          <a:p>
            <a:r>
              <a:rPr lang="vi-VN" sz="1050" dirty="0">
                <a:solidFill>
                  <a:srgbClr val="14213D"/>
                </a:solidFill>
              </a:rPr>
              <a:t>HASOS reviews</a:t>
            </a:r>
            <a:endParaRPr lang="vi-VN" sz="1050"/>
          </a:p>
          <a:p>
            <a:r>
              <a:rPr lang="vi-VN" sz="1050" dirty="0">
                <a:solidFill>
                  <a:srgbClr val="14213D"/>
                </a:solidFill>
              </a:rPr>
              <a:t>29 child aspects</a:t>
            </a:r>
            <a:endParaRPr lang="vi-VN" sz="1050"/>
          </a:p>
        </p:txBody>
      </p:sp>
      <p:sp>
        <p:nvSpPr>
          <p:cNvPr id="6" name="Text 6"/>
          <p:cNvSpPr txBox="1"/>
          <p:nvPr/>
        </p:nvSpPr>
        <p:spPr>
          <a:xfrm>
            <a:off x="2331720" y="1325880"/>
            <a:ext cx="1645920" cy="1097280"/>
          </a:xfrm>
          <a:prstGeom prst="rect">
            <a:avLst/>
          </a:prstGeom>
          <a:solidFill>
            <a:srgbClr val="FFFFFF"/>
          </a:solidFill>
          <a:ln w="9525">
            <a:solidFill>
              <a:srgbClr val="D8DEE9"/>
            </a:solidFill>
          </a:ln>
        </p:spPr>
        <p:txBody>
          <a:bodyPr wrap="square" lIns="91440" tIns="45720" rIns="91440" bIns="45720"/>
          <a:lstStyle/>
          <a:p>
            <a:r>
              <a:rPr lang="vi-VN" sz="1050" dirty="0">
                <a:solidFill>
                  <a:srgbClr val="14213D"/>
                </a:solidFill>
              </a:rPr>
              <a:t>2 Tokenizer gate</a:t>
            </a:r>
            <a:endParaRPr lang="vi-VN" sz="1050"/>
          </a:p>
          <a:p>
            <a:r>
              <a:rPr lang="vi-VN" sz="1050" dirty="0">
                <a:solidFill>
                  <a:srgbClr val="14213D"/>
                </a:solidFill>
              </a:rPr>
              <a:t>SPACE SentencePiece</a:t>
            </a:r>
            <a:endParaRPr lang="vi-VN" sz="1050"/>
          </a:p>
          <a:p>
            <a:r>
              <a:rPr lang="vi-VN" sz="1050" dirty="0">
                <a:solidFill>
                  <a:srgbClr val="14213D"/>
                </a:solidFill>
              </a:rPr>
              <a:t>checkpoint-safe IDs</a:t>
            </a:r>
            <a:endParaRPr lang="vi-VN" sz="1050"/>
          </a:p>
        </p:txBody>
      </p:sp>
      <p:sp>
        <p:nvSpPr>
          <p:cNvPr id="7" name="Text 7"/>
          <p:cNvSpPr txBox="1"/>
          <p:nvPr/>
        </p:nvSpPr>
        <p:spPr>
          <a:xfrm>
            <a:off x="4069080" y="1325880"/>
            <a:ext cx="1645920" cy="1097280"/>
          </a:xfrm>
          <a:prstGeom prst="rect">
            <a:avLst/>
          </a:prstGeom>
          <a:solidFill>
            <a:srgbClr val="FFFFFF"/>
          </a:solidFill>
          <a:ln w="9525">
            <a:solidFill>
              <a:srgbClr val="D8DEE9"/>
            </a:solidFill>
          </a:ln>
        </p:spPr>
        <p:txBody>
          <a:bodyPr wrap="square" lIns="91440" tIns="45720" rIns="91440" bIns="45720"/>
          <a:lstStyle/>
          <a:p>
            <a:r>
              <a:rPr lang="vi-VN" sz="1050" dirty="0">
                <a:solidFill>
                  <a:srgbClr val="14213D"/>
                </a:solidFill>
              </a:rPr>
              <a:t>3 SemAE score</a:t>
            </a:r>
            <a:endParaRPr lang="vi-VN" sz="1050"/>
          </a:p>
          <a:p>
            <a:r>
              <a:rPr lang="vi-VN" sz="1050" dirty="0">
                <a:solidFill>
                  <a:srgbClr val="14213D"/>
                </a:solidFill>
              </a:rPr>
              <a:t>D_z(s), P_z, P_k</a:t>
            </a:r>
            <a:endParaRPr lang="vi-VN" sz="1050"/>
          </a:p>
          <a:p>
            <a:r>
              <a:rPr lang="vi-VN" sz="1050" dirty="0">
                <a:solidFill>
                  <a:srgbClr val="14213D"/>
                </a:solidFill>
              </a:rPr>
              <a:t>KL objective</a:t>
            </a:r>
            <a:endParaRPr lang="vi-VN" sz="1050"/>
          </a:p>
        </p:txBody>
      </p:sp>
      <p:sp>
        <p:nvSpPr>
          <p:cNvPr id="8" name="Text 8"/>
          <p:cNvSpPr txBox="1"/>
          <p:nvPr/>
        </p:nvSpPr>
        <p:spPr>
          <a:xfrm>
            <a:off x="5806440" y="1325880"/>
            <a:ext cx="1645920" cy="1097280"/>
          </a:xfrm>
          <a:prstGeom prst="rect">
            <a:avLst/>
          </a:prstGeom>
          <a:solidFill>
            <a:srgbClr val="FFFFFF"/>
          </a:solidFill>
          <a:ln w="9525">
            <a:solidFill>
              <a:srgbClr val="D8DEE9"/>
            </a:solidFill>
          </a:ln>
        </p:spPr>
        <p:txBody>
          <a:bodyPr wrap="square" lIns="91440" tIns="45720" rIns="91440" bIns="45720"/>
          <a:lstStyle/>
          <a:p>
            <a:r>
              <a:rPr lang="vi-VN" sz="1050" dirty="0">
                <a:solidFill>
                  <a:srgbClr val="14213D"/>
                </a:solidFill>
              </a:rPr>
              <a:t>4 Threshold</a:t>
            </a:r>
            <a:endParaRPr lang="vi-VN" sz="1050"/>
          </a:p>
          <a:p>
            <a:r>
              <a:rPr lang="vi-VN" sz="1050" dirty="0">
                <a:solidFill>
                  <a:srgbClr val="14213D"/>
                </a:solidFill>
              </a:rPr>
              <a:t>score &lt;= 0.005</a:t>
            </a:r>
            <a:endParaRPr lang="vi-VN" sz="1050"/>
          </a:p>
          <a:p>
            <a:r>
              <a:rPr lang="vi-VN" sz="1050" dirty="0">
                <a:solidFill>
                  <a:srgbClr val="14213D"/>
                </a:solidFill>
              </a:rPr>
              <a:t>full evidence</a:t>
            </a:r>
            <a:endParaRPr lang="vi-VN" sz="1050"/>
          </a:p>
        </p:txBody>
      </p:sp>
      <p:sp>
        <p:nvSpPr>
          <p:cNvPr id="9" name="Text 9"/>
          <p:cNvSpPr txBox="1"/>
          <p:nvPr/>
        </p:nvSpPr>
        <p:spPr>
          <a:xfrm>
            <a:off x="7543800" y="1325880"/>
            <a:ext cx="1645920" cy="1097280"/>
          </a:xfrm>
          <a:prstGeom prst="rect">
            <a:avLst/>
          </a:prstGeom>
          <a:solidFill>
            <a:srgbClr val="FFFFFF"/>
          </a:solidFill>
          <a:ln w="9525">
            <a:solidFill>
              <a:srgbClr val="D8DEE9"/>
            </a:solidFill>
          </a:ln>
        </p:spPr>
        <p:txBody>
          <a:bodyPr wrap="square" lIns="91440" tIns="45720" rIns="91440" bIns="45720"/>
          <a:lstStyle/>
          <a:p>
            <a:r>
              <a:rPr lang="vi-VN" sz="1050" dirty="0">
                <a:solidFill>
                  <a:srgbClr val="14213D"/>
                </a:solidFill>
              </a:rPr>
              <a:t>5 Child</a:t>
            </a:r>
            <a:endParaRPr lang="vi-VN" sz="1050"/>
          </a:p>
          <a:p>
            <a:r>
              <a:rPr lang="vi-VN" sz="1050" dirty="0">
                <a:solidFill>
                  <a:srgbClr val="14213D"/>
                </a:solidFill>
              </a:rPr>
              <a:t>FLAN-base</a:t>
            </a:r>
            <a:endParaRPr lang="vi-VN" sz="1050"/>
          </a:p>
          <a:p>
            <a:r>
              <a:rPr lang="vi-VN" sz="1050" dirty="0">
                <a:solidFill>
                  <a:srgbClr val="14213D"/>
                </a:solidFill>
              </a:rPr>
              <a:t>29 aspects</a:t>
            </a:r>
            <a:endParaRPr lang="vi-VN" sz="1050"/>
          </a:p>
        </p:txBody>
      </p:sp>
      <p:sp>
        <p:nvSpPr>
          <p:cNvPr id="10" name="Text 10"/>
          <p:cNvSpPr txBox="1"/>
          <p:nvPr/>
        </p:nvSpPr>
        <p:spPr>
          <a:xfrm>
            <a:off x="9281160" y="1325880"/>
            <a:ext cx="1783080" cy="1097280"/>
          </a:xfrm>
          <a:prstGeom prst="rect">
            <a:avLst/>
          </a:prstGeom>
          <a:solidFill>
            <a:srgbClr val="FFFFFF"/>
          </a:solidFill>
          <a:ln w="9525">
            <a:solidFill>
              <a:srgbClr val="D8DEE9"/>
            </a:solidFill>
          </a:ln>
        </p:spPr>
        <p:txBody>
          <a:bodyPr wrap="square" lIns="91440" tIns="45720" rIns="91440" bIns="45720"/>
          <a:lstStyle/>
          <a:p>
            <a:r>
              <a:rPr lang="vi-VN" sz="1050" dirty="0">
                <a:solidFill>
                  <a:srgbClr val="14213D"/>
                </a:solidFill>
              </a:rPr>
              <a:t>6 Parent + entity</a:t>
            </a:r>
            <a:endParaRPr lang="vi-VN" sz="1050"/>
          </a:p>
          <a:p>
            <a:r>
              <a:rPr lang="vi-VN" sz="1050" dirty="0">
                <a:solidFill>
                  <a:srgbClr val="14213D"/>
                </a:solidFill>
              </a:rPr>
              <a:t>FLAN-base</a:t>
            </a:r>
            <a:endParaRPr lang="vi-VN" sz="1050"/>
          </a:p>
          <a:p>
            <a:r>
              <a:rPr lang="vi-VN" sz="1050" dirty="0">
                <a:solidFill>
                  <a:srgbClr val="14213D"/>
                </a:solidFill>
              </a:rPr>
              <a:t>6 groups + overall</a:t>
            </a:r>
            <a:endParaRPr lang="vi-VN" sz="1050"/>
          </a:p>
        </p:txBody>
      </p:sp>
      <p:sp>
        <p:nvSpPr>
          <p:cNvPr id="11" name="Text 11"/>
          <p:cNvSpPr txBox="1"/>
          <p:nvPr/>
        </p:nvSpPr>
        <p:spPr>
          <a:xfrm>
            <a:off x="685800" y="3429000"/>
            <a:ext cx="10424160" cy="777240"/>
          </a:xfrm>
          <a:prstGeom prst="rect">
            <a:avLst/>
          </a:prstGeom>
          <a:solidFill>
            <a:srgbClr val="EEF6FF"/>
          </a:solidFill>
          <a:ln w="9525">
            <a:solidFill>
              <a:srgbClr val="BFDBFE"/>
            </a:solidFill>
          </a:ln>
        </p:spPr>
        <p:txBody>
          <a:bodyPr wrap="square" lIns="91440" tIns="45720" rIns="91440" bIns="45720"/>
          <a:lstStyle/>
          <a:p>
            <a:r>
              <a:rPr lang="vi-VN" sz="1200" dirty="0">
                <a:solidFill>
                  <a:srgbClr val="14213D"/>
                </a:solidFill>
              </a:rPr>
              <a:t>Biến thể so với SemAE gốc: taxonomy/seeds đổi sang HASOS 29 aspects. Abstractive stage dùng threshold evidence trước truncate; sentiment split chỉ là audit post-processing.</a:t>
            </a:r>
            <a:endParaRPr lang="vi-VN"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READINESS</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Artifact gate và dữ liệu chuẩn bị</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685800" y="1234440"/>
            <a:ext cx="5394960" cy="4389120"/>
          </a:xfrm>
          <a:prstGeom prst="rect">
            <a:avLst/>
          </a:prstGeom>
          <a:solidFill>
            <a:srgbClr val="FFFFFF"/>
          </a:solidFill>
          <a:ln w="9525">
            <a:solidFill>
              <a:srgbClr val="D8DEE9"/>
            </a:solidFill>
          </a:ln>
        </p:spPr>
        <p:txBody>
          <a:bodyPr wrap="square" lIns="91440" tIns="45720" rIns="91440" bIns="45720"/>
          <a:lstStyle/>
          <a:p>
            <a:r>
              <a:rPr lang="vi-VN" sz="1000" dirty="0">
                <a:solidFill>
                  <a:srgbClr val="14213D"/>
                </a:solidFill>
              </a:rPr>
              <a:t>Full run completed</a:t>
            </a:r>
            <a:endParaRPr lang="vi-VN" sz="1000"/>
          </a:p>
          <a:p>
            <a:r>
              <a:rPr lang="vi-VN" sz="1000" dirty="0">
                <a:solidFill>
                  <a:srgbClr val="14213D"/>
                </a:solidFill>
              </a:rPr>
              <a:t>aspect files: 1450</a:t>
            </a:r>
            <a:endParaRPr lang="vi-VN" sz="1000"/>
          </a:p>
          <a:p>
            <a:r>
              <a:rPr lang="vi-VN" sz="1000" dirty="0">
                <a:solidFill>
                  <a:srgbClr val="14213D"/>
                </a:solidFill>
              </a:rPr>
              <a:t>threshold evidence rows: 2343</a:t>
            </a:r>
            <a:endParaRPr lang="vi-VN" sz="1000"/>
          </a:p>
          <a:p>
            <a:r>
              <a:rPr lang="vi-VN" sz="1000" dirty="0">
                <a:solidFill>
                  <a:srgbClr val="14213D"/>
                </a:solidFill>
              </a:rPr>
              <a:t>child summaries: 823</a:t>
            </a:r>
            <a:endParaRPr lang="vi-VN" sz="1000"/>
          </a:p>
          <a:p>
            <a:r>
              <a:rPr lang="vi-VN" sz="1000" dirty="0">
                <a:solidFill>
                  <a:srgbClr val="14213D"/>
                </a:solidFill>
              </a:rPr>
              <a:t>parent summaries: 297</a:t>
            </a:r>
            <a:endParaRPr lang="vi-VN" sz="1000"/>
          </a:p>
          <a:p>
            <a:r>
              <a:rPr lang="vi-VN" sz="1000" dirty="0">
                <a:solidFill>
                  <a:srgbClr val="14213D"/>
                </a:solidFill>
              </a:rPr>
              <a:t>entity summaries: 50</a:t>
            </a:r>
            <a:endParaRPr lang="vi-VN" sz="1000"/>
          </a:p>
        </p:txBody>
      </p:sp>
      <p:sp>
        <p:nvSpPr>
          <p:cNvPr id="6" name="Text 6"/>
          <p:cNvSpPr txBox="1"/>
          <p:nvPr/>
        </p:nvSpPr>
        <p:spPr>
          <a:xfrm>
            <a:off x="6400800" y="1234440"/>
            <a:ext cx="4892040" cy="1691640"/>
          </a:xfrm>
          <a:prstGeom prst="rect">
            <a:avLst/>
          </a:prstGeom>
          <a:solidFill>
            <a:srgbClr val="FFF7ED"/>
          </a:solidFill>
          <a:ln w="9525">
            <a:solidFill>
              <a:srgbClr val="FDBA74"/>
            </a:solidFill>
          </a:ln>
        </p:spPr>
        <p:txBody>
          <a:bodyPr wrap="square" lIns="91440" tIns="45720" rIns="91440" bIns="45720"/>
          <a:lstStyle/>
          <a:p>
            <a:r>
              <a:rPr lang="vi-VN" sz="1200" dirty="0">
                <a:solidFill>
                  <a:srgbClr val="14213D"/>
                </a:solidFill>
              </a:rPr>
              <a:t>Hard gate quan trọng</a:t>
            </a:r>
            <a:endParaRPr lang="vi-VN" sz="1200"/>
          </a:p>
          <a:p>
            <a:r>
              <a:rPr lang="vi-VN" sz="1200" dirty="0">
                <a:solidFill>
                  <a:srgbClr val="14213D"/>
                </a:solidFill>
              </a:rPr>
              <a:t>Checkpoint SemAE không tự chứa SentencePiece model. Nếu `space_unigram_32k.model` không khớp tokenizer lúc train, token id sẽ sai và inference không đáng tin.</a:t>
            </a:r>
            <a:endParaRPr lang="vi-VN" sz="1200"/>
          </a:p>
        </p:txBody>
      </p:sp>
      <p:sp>
        <p:nvSpPr>
          <p:cNvPr id="7" name="Text 7"/>
          <p:cNvSpPr txBox="1"/>
          <p:nvPr/>
        </p:nvSpPr>
        <p:spPr>
          <a:xfrm>
            <a:off x="6400800" y="3246120"/>
            <a:ext cx="4892040" cy="1143000"/>
          </a:xfrm>
          <a:prstGeom prst="rect">
            <a:avLst/>
          </a:prstGeom>
          <a:solidFill>
            <a:srgbClr val="FFFFFF"/>
          </a:solidFill>
          <a:ln w="9525">
            <a:solidFill>
              <a:srgbClr val="D8DEE9"/>
            </a:solidFill>
          </a:ln>
        </p:spPr>
        <p:txBody>
          <a:bodyPr wrap="square" lIns="91440" tIns="45720" rIns="91440" bIns="45720"/>
          <a:lstStyle/>
          <a:p>
            <a:r>
              <a:rPr lang="vi-VN" sz="1250" dirty="0">
                <a:solidFill>
                  <a:srgbClr val="14213D"/>
                </a:solidFill>
              </a:rPr>
              <a:t>Validate hiện tại</a:t>
            </a:r>
            <a:endParaRPr lang="vi-VN" sz="1250"/>
          </a:p>
          <a:p>
            <a:r>
              <a:rPr lang="vi-VN" sz="1250" dirty="0">
                <a:solidFill>
                  <a:srgbClr val="14213D"/>
                </a:solidFill>
              </a:rPr>
              <a:t>entities=50</a:t>
            </a:r>
            <a:endParaRPr lang="vi-VN" sz="1250"/>
          </a:p>
          <a:p>
            <a:r>
              <a:rPr lang="vi-VN" sz="1250" dirty="0">
                <a:solidFill>
                  <a:srgbClr val="14213D"/>
                </a:solidFill>
              </a:rPr>
              <a:t>reviews=5000</a:t>
            </a:r>
            <a:endParaRPr lang="vi-VN" sz="1250"/>
          </a:p>
          <a:p>
            <a:r>
              <a:rPr lang="vi-VN" sz="1250" dirty="0">
                <a:solidFill>
                  <a:srgbClr val="14213D"/>
                </a:solidFill>
              </a:rPr>
              <a:t>sentences=45529</a:t>
            </a:r>
            <a:endParaRPr lang="vi-VN" sz="1250"/>
          </a:p>
          <a:p>
            <a:r>
              <a:rPr lang="vi-VN" sz="1250" dirty="0">
                <a:solidFill>
                  <a:srgbClr val="14213D"/>
                </a:solidFill>
              </a:rPr>
              <a:t>aspects=29</a:t>
            </a:r>
            <a:endParaRPr lang="vi-VN" sz="12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TRACEABILITY</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Provenance cho từng câu output</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685800" y="1234440"/>
            <a:ext cx="4389120" cy="1554480"/>
          </a:xfrm>
          <a:prstGeom prst="rect">
            <a:avLst/>
          </a:prstGeom>
          <a:solidFill>
            <a:srgbClr val="ECFDF5"/>
          </a:solidFill>
          <a:ln w="9525">
            <a:solidFill>
              <a:srgbClr val="99F6E4"/>
            </a:solidFill>
          </a:ln>
        </p:spPr>
        <p:txBody>
          <a:bodyPr wrap="square" lIns="91440" tIns="45720" rIns="91440" bIns="45720"/>
          <a:lstStyle/>
          <a:p>
            <a:r>
              <a:rPr lang="vi-VN" sz="1250" dirty="0">
                <a:solidFill>
                  <a:srgbClr val="14213D"/>
                </a:solidFill>
              </a:rPr>
              <a:t>Aspect summary rows: 9510</a:t>
            </a:r>
            <a:endParaRPr lang="vi-VN" sz="1250"/>
          </a:p>
          <a:p>
            <a:r>
              <a:rPr lang="vi-VN" sz="1250" dirty="0">
                <a:solidFill>
                  <a:srgbClr val="14213D"/>
                </a:solidFill>
              </a:rPr>
              <a:t>Provenance rows: 9510</a:t>
            </a:r>
            <a:endParaRPr lang="vi-VN" sz="1250"/>
          </a:p>
          <a:p>
            <a:r>
              <a:rPr lang="vi-VN" sz="1250" dirty="0">
                <a:solidFill>
                  <a:srgbClr val="14213D"/>
                </a:solidFill>
              </a:rPr>
              <a:t>Coverage: 1.0000</a:t>
            </a:r>
            <a:endParaRPr lang="vi-VN" sz="1250"/>
          </a:p>
          <a:p>
            <a:r>
              <a:rPr lang="vi-VN" sz="1250" dirty="0">
                <a:solidFill>
                  <a:srgbClr val="14213D"/>
                </a:solidFill>
              </a:rPr>
              <a:t>File: outputs/space_hasos_threshold_full_provenance.jsonl</a:t>
            </a:r>
            <a:endParaRPr lang="vi-VN" sz="1250"/>
          </a:p>
        </p:txBody>
      </p:sp>
      <p:sp>
        <p:nvSpPr>
          <p:cNvPr id="6" name="Text 6"/>
          <p:cNvSpPr txBox="1"/>
          <p:nvPr/>
        </p:nvSpPr>
        <p:spPr>
          <a:xfrm>
            <a:off x="5394960" y="1234440"/>
            <a:ext cx="5715000" cy="1874519"/>
          </a:xfrm>
          <a:prstGeom prst="rect">
            <a:avLst/>
          </a:prstGeom>
          <a:solidFill>
            <a:srgbClr val="FFFFFF"/>
          </a:solidFill>
          <a:ln w="9525">
            <a:solidFill>
              <a:srgbClr val="D8DEE9"/>
            </a:solidFill>
          </a:ln>
        </p:spPr>
        <p:txBody>
          <a:bodyPr wrap="square" lIns="91440" tIns="45720" rIns="91440" bIns="45720"/>
          <a:lstStyle/>
          <a:p>
            <a:r>
              <a:rPr lang="vi-VN" sz="1000" dirty="0">
                <a:solidFill>
                  <a:srgbClr val="14213D"/>
                </a:solidFill>
              </a:rPr>
              <a:t>entity=100597 | aspect=FAC_ROOM | rank=1 | review=UR7667461</a:t>
            </a:r>
            <a:endParaRPr lang="vi-VN" sz="1000"/>
          </a:p>
          <a:p>
            <a:r>
              <a:rPr lang="vi-VN" sz="1000" dirty="0">
                <a:solidFill>
                  <a:srgbClr val="14213D"/>
                </a:solidFill>
              </a:rPr>
              <a:t>seed=['room'] | sentiment=pos ['clean']</a:t>
            </a:r>
            <a:endParaRPr lang="vi-VN" sz="1000"/>
          </a:p>
          <a:p>
            <a:r>
              <a:rPr lang="vi-VN" sz="1000" dirty="0">
                <a:solidFill>
                  <a:srgbClr val="14213D"/>
                </a:solidFill>
              </a:rPr>
              <a:t>sentence: The bed was very nice, room was clean, we even had a balcony.</a:t>
            </a:r>
            <a:endParaRPr lang="vi-VN" sz="1000"/>
          </a:p>
        </p:txBody>
      </p:sp>
      <p:sp>
        <p:nvSpPr>
          <p:cNvPr id="7" name="Text 7"/>
          <p:cNvSpPr txBox="1"/>
          <p:nvPr/>
        </p:nvSpPr>
        <p:spPr>
          <a:xfrm>
            <a:off x="685800" y="3703320"/>
            <a:ext cx="10424160" cy="914400"/>
          </a:xfrm>
          <a:prstGeom prst="rect">
            <a:avLst/>
          </a:prstGeom>
          <a:solidFill>
            <a:srgbClr val="EEF6FF"/>
          </a:solidFill>
          <a:ln w="9525">
            <a:solidFill>
              <a:srgbClr val="BFDBFE"/>
            </a:solidFill>
          </a:ln>
        </p:spPr>
        <p:txBody>
          <a:bodyPr wrap="square" lIns="91440" tIns="45720" rIns="91440" bIns="45720"/>
          <a:lstStyle/>
          <a:p>
            <a:r>
              <a:rPr lang="vi-VN" sz="1100" dirty="0">
                <a:solidFill>
                  <a:srgbClr val="14213D"/>
                </a:solidFill>
              </a:rPr>
              <a:t>Mỗi câu summary ghi: entity/split/aspect, summary_sentence_index, rank/score/beta, source_review_id, source_sentence_index, matched_aspect_seed, sentiment_label, matched_sentiment_keywords, was_truncated. Metric mới source_fidelity_excl_truncated loại câu bị cắt khỏi exact-match denominator.</a:t>
            </a:r>
            <a:endParaRPr lang="vi-VN"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FORMULA</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SemAE scoring theo aspect</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731520" y="1325880"/>
            <a:ext cx="10424160" cy="594360"/>
          </a:xfrm>
          <a:prstGeom prst="rect">
            <a:avLst/>
          </a:prstGeom>
          <a:solidFill>
            <a:srgbClr val="FFFFFF"/>
          </a:solidFill>
          <a:ln w="9525">
            <a:solidFill>
              <a:srgbClr val="D8DEE9"/>
            </a:solidFill>
          </a:ln>
        </p:spPr>
        <p:txBody>
          <a:bodyPr wrap="square" lIns="91440" tIns="45720" rIns="91440" bIns="45720"/>
          <a:lstStyle/>
          <a:p>
            <a:r>
              <a:rPr lang="vi-VN" sz="1900" dirty="0">
                <a:b/>
                <a:solidFill>
                  <a:srgbClr val="14213D"/>
                </a:solidFill>
              </a:rPr>
              <a:t>score(s, k) = KL(D_z(s) || P_z) - beta * KL(D_z(s) || P_k)</a:t>
            </a:r>
            <a:endParaRPr lang="vi-VN" sz="1900"/>
          </a:p>
        </p:txBody>
      </p:sp>
      <p:sp>
        <p:nvSpPr>
          <p:cNvPr id="6" name="Text 6"/>
          <p:cNvSpPr txBox="1"/>
          <p:nvPr/>
        </p:nvSpPr>
        <p:spPr>
          <a:xfrm>
            <a:off x="822960" y="2286000"/>
            <a:ext cx="5212080" cy="1645920"/>
          </a:xfrm>
          <a:prstGeom prst="rect">
            <a:avLst/>
          </a:prstGeom>
          <a:solidFill>
            <a:srgbClr val="FFFFFF"/>
          </a:solidFill>
          <a:ln w="9525">
            <a:solidFill>
              <a:srgbClr val="D8DEE9"/>
            </a:solidFill>
          </a:ln>
        </p:spPr>
        <p:txBody>
          <a:bodyPr wrap="square" lIns="91440" tIns="45720" rIns="91440" bIns="45720"/>
          <a:lstStyle/>
          <a:p>
            <a:r>
              <a:rPr lang="vi-VN" sz="1250" dirty="0">
                <a:solidFill>
                  <a:srgbClr val="14213D"/>
                </a:solidFill>
              </a:rPr>
              <a:t>D_z(s): phân phối cluster của câu s.</a:t>
            </a:r>
            <a:endParaRPr lang="vi-VN" sz="1250"/>
          </a:p>
          <a:p>
            <a:r>
              <a:rPr lang="vi-VN" sz="1250" dirty="0">
                <a:solidFill>
                  <a:srgbClr val="14213D"/>
                </a:solidFill>
              </a:rPr>
              <a:t>P_z: background distribution.</a:t>
            </a:r>
            <a:endParaRPr lang="vi-VN" sz="1250"/>
          </a:p>
          <a:p>
            <a:r>
              <a:rPr lang="vi-VN" sz="1250" dirty="0">
                <a:solidFill>
                  <a:srgbClr val="14213D"/>
                </a:solidFill>
              </a:rPr>
              <a:t>P_k: prototype distribution của aspect k.</a:t>
            </a:r>
            <a:endParaRPr lang="vi-VN" sz="1250"/>
          </a:p>
          <a:p>
            <a:r>
              <a:rPr lang="vi-VN" sz="1250" dirty="0">
                <a:solidFill>
                  <a:srgbClr val="14213D"/>
                </a:solidFill>
              </a:rPr>
              <a:t>beta=0.7 theo recipe hiện tại.</a:t>
            </a:r>
            <a:endParaRPr lang="vi-VN" sz="1250"/>
          </a:p>
        </p:txBody>
      </p:sp>
      <p:sp>
        <p:nvSpPr>
          <p:cNvPr id="7" name="Text 7"/>
          <p:cNvSpPr txBox="1"/>
          <p:nvPr/>
        </p:nvSpPr>
        <p:spPr>
          <a:xfrm>
            <a:off x="6400800" y="2286000"/>
            <a:ext cx="4937760" cy="1234440"/>
          </a:xfrm>
          <a:prstGeom prst="rect">
            <a:avLst/>
          </a:prstGeom>
          <a:solidFill>
            <a:srgbClr val="ECFDF5"/>
          </a:solidFill>
          <a:ln w="9525">
            <a:solidFill>
              <a:srgbClr val="99F6E4"/>
            </a:solidFill>
          </a:ln>
        </p:spPr>
        <p:txBody>
          <a:bodyPr wrap="square" lIns="91440" tIns="45720" rIns="91440" bIns="45720"/>
          <a:lstStyle/>
          <a:p>
            <a:r>
              <a:rPr lang="vi-VN" sz="1250" dirty="0">
                <a:solidFill>
                  <a:srgbClr val="14213D"/>
                </a:solidFill>
              </a:rPr>
              <a:t>Câu có score thấp hơn được ưu tiên. Bản mới không đọc summary đã truncate; nó đọc mọi câu full sentence có score &lt;= 0.005, dedupe ý trùng, rồi synthesize theo 3 tầng.</a:t>
            </a:r>
            <a:endParaRPr lang="vi-VN" sz="12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OLD BASELINE</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SPACE original aspects: official ROUGE</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685800" y="1234440"/>
            <a:ext cx="10378440" cy="868680"/>
          </a:xfrm>
          <a:prstGeom prst="rect">
            <a:avLst/>
          </a:prstGeom>
          <a:solidFill>
            <a:srgbClr val="FFF7ED"/>
          </a:solidFill>
          <a:ln w="9525">
            <a:solidFill>
              <a:srgbClr val="FDBA74"/>
            </a:solidFill>
          </a:ln>
        </p:spPr>
        <p:txBody>
          <a:bodyPr wrap="square" lIns="91440" tIns="45720" rIns="91440" bIns="45720"/>
          <a:lstStyle/>
          <a:p>
            <a:r>
              <a:rPr lang="vi-VN" sz="1120" dirty="0">
                <a:solidFill>
                  <a:srgbClr val="14213D"/>
                </a:solidFill>
              </a:rPr>
              <a:t>Bản cũ dùng đúng SPACE benchmark và 6 aspect gốc: building, cleanliness, food, location, rooms, service. Run này chạy without --no_eval nên điểm dưới đây là pyrouge official, khác với HASOS reference-free metrics.</a:t>
            </a:r>
            <a:endParaRPr lang="vi-VN" sz="1120"/>
          </a:p>
        </p:txBody>
      </p:sp>
      <p:sp>
        <p:nvSpPr>
          <p:cNvPr id="6" name="Text 6"/>
          <p:cNvSpPr txBox="1"/>
          <p:nvPr/>
        </p:nvSpPr>
        <p:spPr>
          <a:xfrm>
            <a:off x="777240" y="2423160"/>
            <a:ext cx="4526280" cy="1508760"/>
          </a:xfrm>
          <a:prstGeom prst="rect">
            <a:avLst/>
          </a:prstGeom>
          <a:solidFill>
            <a:srgbClr val="FFFFFF"/>
          </a:solidFill>
          <a:ln w="9525">
            <a:solidFill>
              <a:srgbClr val="D8DEE9"/>
            </a:solidFill>
          </a:ln>
        </p:spPr>
        <p:txBody>
          <a:bodyPr wrap="square" lIns="91440" tIns="45720" rIns="91440" bIns="45720"/>
          <a:lstStyle/>
          <a:p>
            <a:r>
              <a:rPr lang="vi-VN" sz="1250" dirty="0">
                <a:solidFill>
                  <a:srgbClr val="14213D"/>
                </a:solidFill>
              </a:rPr>
              <a:t>Macro F1 by split</a:t>
            </a:r>
            <a:endParaRPr lang="vi-VN" sz="1250"/>
          </a:p>
          <a:p>
            <a:r>
              <a:rPr lang="vi-VN" sz="1250" dirty="0">
                <a:solidFill>
                  <a:srgbClr val="14213D"/>
                </a:solidFill>
              </a:rPr>
              <a:t>DEV   R1=0.3068  R2=0.0827  RL=0.2195</a:t>
            </a:r>
            <a:endParaRPr lang="vi-VN" sz="1250"/>
          </a:p>
          <a:p>
            <a:r>
              <a:rPr lang="vi-VN" sz="1250" dirty="0">
                <a:solidFill>
                  <a:srgbClr val="14213D"/>
                </a:solidFill>
              </a:rPr>
              <a:t>TEST  R1=0.3002  R2=0.0879  RL=0.2179</a:t>
            </a:r>
            <a:endParaRPr lang="vi-VN" sz="1250"/>
          </a:p>
          <a:p>
            <a:r>
              <a:rPr lang="vi-VN" sz="1250" dirty="0">
                <a:solidFill>
                  <a:srgbClr val="14213D"/>
                </a:solidFill>
              </a:rPr>
              <a:t>ALL   R1=0.3033  R2=0.0857  RL=0.2188</a:t>
            </a:r>
            <a:endParaRPr lang="vi-VN" sz="1250"/>
          </a:p>
        </p:txBody>
      </p:sp>
      <p:sp>
        <p:nvSpPr>
          <p:cNvPr id="7" name="Text 7"/>
          <p:cNvSpPr txBox="1"/>
          <p:nvPr/>
        </p:nvSpPr>
        <p:spPr>
          <a:xfrm>
            <a:off x="5623560" y="2240280"/>
            <a:ext cx="5440680" cy="2423160"/>
          </a:xfrm>
          <a:prstGeom prst="rect">
            <a:avLst/>
          </a:prstGeom>
          <a:solidFill>
            <a:srgbClr val="ECFDF5"/>
          </a:solidFill>
          <a:ln w="9525">
            <a:solidFill>
              <a:srgbClr val="99F6E4"/>
            </a:solidFill>
          </a:ln>
        </p:spPr>
        <p:txBody>
          <a:bodyPr wrap="square" lIns="91440" tIns="45720" rIns="91440" bIns="45720"/>
          <a:lstStyle/>
          <a:p>
            <a:r>
              <a:rPr lang="vi-VN" sz="850" dirty="0">
                <a:solidFill>
                  <a:srgbClr val="14213D"/>
                </a:solidFill>
              </a:rPr>
              <a:t>ALL split by aspect</a:t>
            </a:r>
            <a:endParaRPr lang="vi-VN" sz="850"/>
          </a:p>
          <a:p>
            <a:r>
              <a:rPr lang="vi-VN" sz="850" dirty="0">
                <a:solidFill>
                  <a:srgbClr val="14213D"/>
                </a:solidFill>
              </a:rPr>
              <a:t>R1 / R2 / RL</a:t>
            </a:r>
            <a:endParaRPr lang="vi-VN" sz="850"/>
          </a:p>
          <a:p>
            <a:r>
              <a:rPr lang="vi-VN" sz="850" dirty="0">
                <a:solidFill>
                  <a:srgbClr val="14213D"/>
                </a:solidFill>
              </a:rPr>
              <a:t>building     0.2656 / 0.0591 / 0.1939</a:t>
            </a:r>
            <a:endParaRPr lang="vi-VN" sz="850"/>
          </a:p>
          <a:p>
            <a:r>
              <a:rPr lang="vi-VN" sz="850" dirty="0">
                <a:solidFill>
                  <a:srgbClr val="14213D"/>
                </a:solidFill>
              </a:rPr>
              <a:t>cleanliness  0.2653 / 0.0803 / 0.2159</a:t>
            </a:r>
            <a:endParaRPr lang="vi-VN" sz="850"/>
          </a:p>
          <a:p>
            <a:r>
              <a:rPr lang="vi-VN" sz="850" dirty="0">
                <a:solidFill>
                  <a:srgbClr val="14213D"/>
                </a:solidFill>
              </a:rPr>
              <a:t>food         0.3090 / 0.0917 / 0.2183</a:t>
            </a:r>
            <a:endParaRPr lang="vi-VN" sz="850"/>
          </a:p>
          <a:p>
            <a:r>
              <a:rPr lang="vi-VN" sz="850" dirty="0">
                <a:solidFill>
                  <a:srgbClr val="14213D"/>
                </a:solidFill>
              </a:rPr>
              <a:t>location     0.3413 / 0.1072 / 0.2334</a:t>
            </a:r>
            <a:endParaRPr lang="vi-VN" sz="850"/>
          </a:p>
          <a:p>
            <a:r>
              <a:rPr lang="vi-VN" sz="850" dirty="0">
                <a:solidFill>
                  <a:srgbClr val="14213D"/>
                </a:solidFill>
              </a:rPr>
              <a:t>rooms        0.3441 / 0.0869 / 0.2345</a:t>
            </a:r>
            <a:endParaRPr lang="vi-VN" sz="850"/>
          </a:p>
          <a:p>
            <a:r>
              <a:rPr lang="vi-VN" sz="850" dirty="0">
                <a:solidFill>
                  <a:srgbClr val="14213D"/>
                </a:solidFill>
              </a:rPr>
              <a:t>service      0.2943 / 0.0888 / 0.2171</a:t>
            </a:r>
            <a:endParaRPr lang="vi-VN" sz="850"/>
          </a:p>
        </p:txBody>
      </p:sp>
      <p:sp>
        <p:nvSpPr>
          <p:cNvPr id="8" name="Text 8"/>
          <p:cNvSpPr txBox="1"/>
          <p:nvPr/>
        </p:nvSpPr>
        <p:spPr>
          <a:xfrm>
            <a:off x="777240" y="4892040"/>
            <a:ext cx="10195560" cy="502920"/>
          </a:xfrm>
          <a:prstGeom prst="rect">
            <a:avLst/>
          </a:prstGeom>
          <a:solidFill>
            <a:srgbClr val="EEF6FF"/>
          </a:solidFill>
          <a:ln w="9525">
            <a:solidFill>
              <a:srgbClr val="BFDBFE"/>
            </a:solidFill>
          </a:ln>
        </p:spPr>
        <p:txBody>
          <a:bodyPr wrap="square" lIns="91440" tIns="45720" rIns="91440" bIns="45720"/>
          <a:lstStyle/>
          <a:p>
            <a:r>
              <a:rPr lang="vi-VN" sz="1050" dirty="0">
                <a:solidFill>
                  <a:srgbClr val="14213D"/>
                </a:solidFill>
              </a:rPr>
              <a:t>Kết luận so sánh: HASOS 29 aspects là adaptation/inference mới không có gold summary; SPACE original 6 aspects là baseline có gold và có thể so sánh bằng ROUGE.</a:t>
            </a:r>
            <a:endParaRPr lang="vi-VN" sz="10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OUTPUT CORRECTION</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Từ extractive sang abstractive</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685800" y="1234440"/>
            <a:ext cx="5029200" cy="1508760"/>
          </a:xfrm>
          <a:prstGeom prst="rect">
            <a:avLst/>
          </a:prstGeom>
          <a:solidFill>
            <a:srgbClr val="FFF7ED"/>
          </a:solidFill>
          <a:ln w="9525">
            <a:solidFill>
              <a:srgbClr val="FDBA74"/>
            </a:solidFill>
          </a:ln>
        </p:spPr>
        <p:txBody>
          <a:bodyPr wrap="square" lIns="91440" tIns="45720" rIns="91440" bIns="45720"/>
          <a:lstStyle/>
          <a:p>
            <a:r>
              <a:rPr lang="vi-VN" sz="1200" dirty="0">
                <a:solidFill>
                  <a:srgbClr val="14213D"/>
                </a:solidFill>
              </a:rPr>
              <a:t>Vấn đề bạn thấy là đúng</a:t>
            </a:r>
            <a:endParaRPr lang="vi-VN" sz="1200"/>
          </a:p>
          <a:p>
            <a:r>
              <a:rPr lang="vi-VN" sz="1200" dirty="0">
                <a:solidFill>
                  <a:srgbClr val="14213D"/>
                </a:solidFill>
              </a:rPr>
              <a:t>Output SemAE gốc trong run này là extractive: chọn câu source rồi nối lại. Với max_tokens=40, câu cuối có thể bị cắt cụt như `Each room is named... and one of`.</a:t>
            </a:r>
            <a:endParaRPr lang="vi-VN" sz="1200"/>
          </a:p>
        </p:txBody>
      </p:sp>
      <p:sp>
        <p:nvSpPr>
          <p:cNvPr id="6" name="Text 6"/>
          <p:cNvSpPr txBox="1"/>
          <p:nvPr/>
        </p:nvSpPr>
        <p:spPr>
          <a:xfrm>
            <a:off x="5989320" y="1234440"/>
            <a:ext cx="5074920" cy="1508760"/>
          </a:xfrm>
          <a:prstGeom prst="rect">
            <a:avLst/>
          </a:prstGeom>
          <a:solidFill>
            <a:srgbClr val="ECFDF5"/>
          </a:solidFill>
          <a:ln w="9525">
            <a:solidFill>
              <a:srgbClr val="99F6E4"/>
            </a:solidFill>
          </a:ln>
        </p:spPr>
        <p:txBody>
          <a:bodyPr wrap="square" lIns="91440" tIns="45720" rIns="91440" bIns="45720"/>
          <a:lstStyle/>
          <a:p>
            <a:r>
              <a:rPr lang="vi-VN" sz="1200" dirty="0">
                <a:solidFill>
                  <a:srgbClr val="14213D"/>
                </a:solidFill>
              </a:rPr>
              <a:t>Trạng thái artifact synthesis local</a:t>
            </a:r>
            <a:endParaRPr lang="vi-VN" sz="1200"/>
          </a:p>
          <a:p>
            <a:r>
              <a:rPr lang="vi-VN" sz="1200" dirty="0">
                <a:solidFill>
                  <a:srgbClr val="14213D"/>
                </a:solidFill>
              </a:rPr>
              <a:t>Synthesis rows tìm thấy: 823</a:t>
            </a:r>
            <a:endParaRPr lang="vi-VN" sz="1200"/>
          </a:p>
          <a:p>
            <a:r>
              <a:rPr lang="vi-VN" sz="1200" dirty="0">
                <a:solidFill>
                  <a:srgbClr val="14213D"/>
                </a:solidFill>
              </a:rPr>
              <a:t>Threshold evidence rows: 2343</a:t>
            </a:r>
            <a:endParaRPr lang="vi-VN" sz="1200"/>
          </a:p>
          <a:p>
            <a:r>
              <a:rPr lang="vi-VN" sz="1200" dirty="0">
                <a:solidFill>
                  <a:srgbClr val="14213D"/>
                </a:solidFill>
              </a:rPr>
              <a:t>Deck sẽ không còn trình bày output extractive bị cắt như final summary.</a:t>
            </a:r>
            <a:endParaRPr lang="vi-VN" sz="1200"/>
          </a:p>
        </p:txBody>
      </p:sp>
      <p:sp>
        <p:nvSpPr>
          <p:cNvPr id="7" name="Text 7"/>
          <p:cNvSpPr txBox="1"/>
          <p:nvPr/>
        </p:nvSpPr>
        <p:spPr>
          <a:xfrm>
            <a:off x="685800" y="3246120"/>
            <a:ext cx="10378440" cy="1325880"/>
          </a:xfrm>
          <a:prstGeom prst="rect">
            <a:avLst/>
          </a:prstGeom>
          <a:solidFill>
            <a:srgbClr val="FFFFFF"/>
          </a:solidFill>
          <a:ln w="9525">
            <a:solidFill>
              <a:srgbClr val="D8DEE9"/>
            </a:solidFill>
          </a:ln>
        </p:spPr>
        <p:txBody>
          <a:bodyPr wrap="square" lIns="91440" tIns="45720" rIns="91440" bIns="45720"/>
          <a:lstStyle/>
          <a:p>
            <a:r>
              <a:rPr lang="vi-VN" sz="1180" dirty="0">
                <a:solidFill>
                  <a:srgbClr val="14213D"/>
                </a:solidFill>
              </a:rPr>
              <a:t>Kết quả sau khi sửa</a:t>
            </a:r>
            <a:endParaRPr lang="vi-VN" sz="1180"/>
          </a:p>
          <a:p>
            <a:r>
              <a:rPr lang="vi-VN" sz="1180" dirty="0">
                <a:solidFill>
                  <a:srgbClr val="14213D"/>
                </a:solidFill>
              </a:rPr>
              <a:t>1. Evidence đầu vào là full review sentences trước truncate.</a:t>
            </a:r>
            <a:endParaRPr lang="vi-VN" sz="1180"/>
          </a:p>
          <a:p>
            <a:r>
              <a:rPr lang="vi-VN" sz="1180" dirty="0">
                <a:solidFill>
                  <a:srgbClr val="14213D"/>
                </a:solidFill>
              </a:rPr>
              <a:t>2. Aspect summary giữ chi tiết review thay vì nối câu extractive bị cắt.</a:t>
            </a:r>
            <a:endParaRPr lang="vi-VN" sz="1180"/>
          </a:p>
          <a:p>
            <a:r>
              <a:rPr lang="vi-VN" sz="1180" dirty="0">
                <a:solidFill>
                  <a:srgbClr val="14213D"/>
                </a:solidFill>
              </a:rPr>
              <a:t>3. Parent/entity summary gom thông tin theo 6 nhóm rồi viết output tổng cho từng khách sạn.</a:t>
            </a:r>
            <a:endParaRPr lang="vi-VN" sz="118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OUTPUT</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Aspect output example</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685800" y="1143000"/>
            <a:ext cx="2880360" cy="868680"/>
          </a:xfrm>
          <a:prstGeom prst="rect">
            <a:avLst/>
          </a:prstGeom>
          <a:solidFill>
            <a:srgbClr val="FFFFFF"/>
          </a:solidFill>
          <a:ln w="9525">
            <a:solidFill>
              <a:srgbClr val="D8DEE9"/>
            </a:solidFill>
          </a:ln>
        </p:spPr>
        <p:txBody>
          <a:bodyPr wrap="square" lIns="91440" tIns="45720" rIns="91440" bIns="45720"/>
          <a:lstStyle/>
          <a:p>
            <a:r>
              <a:rPr lang="vi-VN" sz="1150" dirty="0">
                <a:b/>
                <a:solidFill>
                  <a:srgbClr val="14213D"/>
                </a:solidFill>
              </a:rPr>
              <a:t>Entity: 1029276</a:t>
            </a:r>
            <a:endParaRPr lang="vi-VN" sz="1150"/>
          </a:p>
          <a:p>
            <a:r>
              <a:rPr lang="vi-VN" sz="1150" dirty="0">
                <a:b/>
                <a:solidFill>
                  <a:srgbClr val="14213D"/>
                </a:solidFill>
              </a:rPr>
              <a:t>Child aspect: AM_WIFI</a:t>
            </a:r>
            <a:endParaRPr lang="vi-VN" sz="1150"/>
          </a:p>
          <a:p>
            <a:r>
              <a:rPr lang="vi-VN" sz="1150" dirty="0">
                <a:b/>
                <a:solidFill>
                  <a:srgbClr val="14213D"/>
                </a:solidFill>
              </a:rPr>
              <a:t>Model: google/flan-t5-base</a:t>
            </a:r>
            <a:endParaRPr lang="vi-VN" sz="1150"/>
          </a:p>
        </p:txBody>
      </p:sp>
      <p:sp>
        <p:nvSpPr>
          <p:cNvPr id="6" name="Text 6"/>
          <p:cNvSpPr txBox="1"/>
          <p:nvPr/>
        </p:nvSpPr>
        <p:spPr>
          <a:xfrm>
            <a:off x="3794760" y="1143000"/>
            <a:ext cx="7315200" cy="2880360"/>
          </a:xfrm>
          <a:prstGeom prst="rect">
            <a:avLst/>
          </a:prstGeom>
          <a:solidFill>
            <a:srgbClr val="FFFFFF"/>
          </a:solidFill>
          <a:ln w="9525">
            <a:solidFill>
              <a:srgbClr val="D8DEE9"/>
            </a:solidFill>
          </a:ln>
        </p:spPr>
        <p:txBody>
          <a:bodyPr wrap="square" lIns="91440" tIns="45720" rIns="91440" bIns="45720"/>
          <a:lstStyle/>
          <a:p>
            <a:r>
              <a:rPr lang="vi-VN" sz="800" dirty="0">
                <a:solidFill>
                  <a:srgbClr val="14213D"/>
                </a:solidFill>
              </a:rPr>
              <a:t>Source reviews</a:t>
            </a:r>
            <a:endParaRPr lang="vi-VN" sz="800"/>
          </a:p>
          <a:p>
            <a:r>
              <a:rPr lang="vi-VN" sz="800" dirty="0">
                <a:solidFill>
                  <a:srgbClr val="14213D"/>
                </a:solidFill>
              </a:rPr>
              <a:t>Review 1 (UR81052679 | score=0.0017): The executive lounge had new Dell computers, wifi internet access was available throughout the hotel (including the pool area) -- free for gold and diamond members.</a:t>
            </a:r>
            <a:endParaRPr lang="vi-VN" sz="800"/>
          </a:p>
          <a:p>
            <a:r>
              <a:rPr lang="vi-VN" sz="800" dirty="0">
                <a:solidFill>
                  <a:srgbClr val="14213D"/>
                </a:solidFill>
              </a:rPr>
              <a:t/>
            </a:r>
            <a:endParaRPr lang="vi-VN" sz="800"/>
          </a:p>
          <a:p>
            <a:r>
              <a:rPr lang="vi-VN" sz="800" dirty="0">
                <a:solidFill>
                  <a:srgbClr val="14213D"/>
                </a:solidFill>
              </a:rPr>
              <a:t>Review 2 (UR43886429 | score=0.0034): Free internet is available only in lobby downstairs and if you want internet in your room, you have to pay for it.</a:t>
            </a:r>
            <a:endParaRPr lang="vi-VN" sz="800"/>
          </a:p>
        </p:txBody>
      </p:sp>
      <p:sp>
        <p:nvSpPr>
          <p:cNvPr id="7" name="Text 7"/>
          <p:cNvSpPr txBox="1"/>
          <p:nvPr/>
        </p:nvSpPr>
        <p:spPr>
          <a:xfrm>
            <a:off x="685800" y="4251960"/>
            <a:ext cx="10424160" cy="960120"/>
          </a:xfrm>
          <a:prstGeom prst="rect">
            <a:avLst/>
          </a:prstGeom>
          <a:solidFill>
            <a:srgbClr val="ECFDF5"/>
          </a:solidFill>
          <a:ln w="9525">
            <a:solidFill>
              <a:srgbClr val="99F6E4"/>
            </a:solidFill>
          </a:ln>
        </p:spPr>
        <p:txBody>
          <a:bodyPr wrap="square" lIns="91440" tIns="45720" rIns="91440" bIns="45720"/>
          <a:lstStyle/>
          <a:p>
            <a:r>
              <a:rPr lang="vi-VN" sz="980" dirty="0">
                <a:solidFill>
                  <a:srgbClr val="14213D"/>
                </a:solidFill>
              </a:rPr>
              <a:t>Summarization</a:t>
            </a:r>
            <a:endParaRPr lang="vi-VN" sz="980"/>
          </a:p>
          <a:p>
            <a:r>
              <a:rPr lang="vi-VN" sz="980" dirty="0">
                <a:solidFill>
                  <a:srgbClr val="14213D"/>
                </a:solidFill>
              </a:rPr>
              <a:t>AM_WIFI summarization:</a:t>
            </a:r>
            <a:endParaRPr lang="vi-VN" sz="980"/>
          </a:p>
          <a:p>
            <a:r>
              <a:rPr lang="vi-VN" sz="980" dirty="0">
                <a:solidFill>
                  <a:srgbClr val="14213D"/>
                </a:solidFill>
              </a:rPr>
              <a:t>The executive lounge had new Dell computers, wifi internet access was available throughout the hotel (including the pool area) -- free for gold and diamond members. Free internet is available only in lobby downstairs and if you want internet in your room, you have to pay for it.</a:t>
            </a:r>
            <a:endParaRPr lang="vi-VN" sz="98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ENTITY SUMMARY</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Output tổng hợp nhất 6 parent aspects</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685800" y="1143000"/>
            <a:ext cx="2880360" cy="777240"/>
          </a:xfrm>
          <a:prstGeom prst="rect">
            <a:avLst/>
          </a:prstGeom>
          <a:solidFill>
            <a:srgbClr val="FFFFFF"/>
          </a:solidFill>
          <a:ln w="9525">
            <a:solidFill>
              <a:srgbClr val="D8DEE9"/>
            </a:solidFill>
          </a:ln>
        </p:spPr>
        <p:txBody>
          <a:bodyPr wrap="square" lIns="91440" tIns="45720" rIns="91440" bIns="45720"/>
          <a:lstStyle/>
          <a:p>
            <a:r>
              <a:rPr lang="vi-VN" sz="1100" dirty="0">
                <a:b/>
                <a:solidFill>
                  <a:srgbClr val="14213D"/>
                </a:solidFill>
              </a:rPr>
              <a:t>Entity: 1029276</a:t>
            </a:r>
            <a:endParaRPr lang="vi-VN" sz="1100"/>
          </a:p>
          <a:p>
            <a:r>
              <a:rPr lang="vi-VN" sz="1100" dirty="0">
                <a:b/>
                <a:solidFill>
                  <a:srgbClr val="14213D"/>
                </a:solidFill>
              </a:rPr>
              <a:t>Overall model: google/flan-t5-base</a:t>
            </a:r>
            <a:endParaRPr lang="vi-VN" sz="1100"/>
          </a:p>
          <a:p>
            <a:r>
              <a:rPr lang="vi-VN" sz="1100" dirty="0">
                <a:b/>
                <a:solidFill>
                  <a:srgbClr val="14213D"/>
                </a:solidFill>
              </a:rPr>
              <a:t>Parent groups: 6</a:t>
            </a:r>
            <a:endParaRPr lang="vi-VN" sz="1100"/>
          </a:p>
        </p:txBody>
      </p:sp>
      <p:sp>
        <p:nvSpPr>
          <p:cNvPr id="6" name="Text 6"/>
          <p:cNvSpPr txBox="1"/>
          <p:nvPr/>
        </p:nvSpPr>
        <p:spPr>
          <a:xfrm>
            <a:off x="685800" y="2103120"/>
            <a:ext cx="4892040" cy="3246120"/>
          </a:xfrm>
          <a:prstGeom prst="rect">
            <a:avLst/>
          </a:prstGeom>
          <a:solidFill>
            <a:srgbClr val="FFFFFF"/>
          </a:solidFill>
          <a:ln w="9525">
            <a:solidFill>
              <a:srgbClr val="D8DEE9"/>
            </a:solidFill>
          </a:ln>
        </p:spPr>
        <p:txBody>
          <a:bodyPr wrap="square" lIns="91440" tIns="45720" rIns="91440" bIns="45720"/>
          <a:lstStyle/>
          <a:p>
            <a:r>
              <a:rPr lang="vi-VN" sz="720" dirty="0">
                <a:solidFill>
                  <a:srgbClr val="14213D"/>
                </a:solidFill>
              </a:rPr>
              <a:t>Parent aspect summaries</a:t>
            </a:r>
            <a:endParaRPr lang="vi-VN" sz="720"/>
          </a:p>
          <a:p>
            <a:r>
              <a:rPr lang="vi-VN" sz="720" dirty="0">
                <a:solidFill>
                  <a:srgbClr val="14213D"/>
                </a:solidFill>
              </a:rPr>
              <a:t>FACILITY: The burger king is not safe to walk around with panhandlers lurking around, this is a clear indication that you better sta...</a:t>
            </a:r>
            <a:endParaRPr lang="vi-VN" sz="720"/>
          </a:p>
          <a:p>
            <a:r>
              <a:rPr lang="vi-VN" sz="720" dirty="0">
                <a:solidFill>
                  <a:srgbClr val="14213D"/>
                </a:solidFill>
              </a:rPr>
              <a:t/>
            </a:r>
            <a:endParaRPr lang="vi-VN" sz="720"/>
          </a:p>
          <a:p>
            <a:r>
              <a:rPr lang="vi-VN" sz="720" dirty="0">
                <a:solidFill>
                  <a:srgbClr val="14213D"/>
                </a:solidFill>
              </a:rPr>
              <a:t>AMENITY: This hotel is very nice with the size of the room, lobby area, swimming pool and the gym. The executive lounge had new Del...</a:t>
            </a:r>
            <a:endParaRPr lang="vi-VN" sz="720"/>
          </a:p>
          <a:p>
            <a:r>
              <a:rPr lang="vi-VN" sz="720" dirty="0">
                <a:solidFill>
                  <a:srgbClr val="14213D"/>
                </a:solidFill>
              </a:rPr>
              <a:t/>
            </a:r>
            <a:endParaRPr lang="vi-VN" sz="720"/>
          </a:p>
          <a:p>
            <a:r>
              <a:rPr lang="vi-VN" sz="720" dirty="0">
                <a:solidFill>
                  <a:srgbClr val="14213D"/>
                </a:solidFill>
              </a:rPr>
              <a:t>SERVICE: This hotel is ok, but for a business traveller is far from ideal. The beds are great and rooms are spacious and beautiful ...</a:t>
            </a:r>
            <a:endParaRPr lang="vi-VN" sz="720"/>
          </a:p>
          <a:p>
            <a:r>
              <a:rPr lang="vi-VN" sz="720" dirty="0">
                <a:solidFill>
                  <a:srgbClr val="14213D"/>
                </a:solidFill>
              </a:rPr>
              <a:t/>
            </a:r>
            <a:endParaRPr lang="vi-VN" sz="720"/>
          </a:p>
          <a:p>
            <a:r>
              <a:rPr lang="vi-VN" sz="720" dirty="0">
                <a:solidFill>
                  <a:srgbClr val="14213D"/>
                </a:solidFill>
              </a:rPr>
              <a:t>EXPERIENCE: The staff was friendly and helpful, and the lobby and bars downstairs were very relaxing and we did spend alot of time the...</a:t>
            </a:r>
            <a:endParaRPr lang="vi-VN" sz="720"/>
          </a:p>
          <a:p>
            <a:r>
              <a:rPr lang="vi-VN" sz="720" dirty="0">
                <a:solidFill>
                  <a:srgbClr val="14213D"/>
                </a:solidFill>
              </a:rPr>
              <a:t/>
            </a:r>
            <a:endParaRPr lang="vi-VN" sz="720"/>
          </a:p>
          <a:p>
            <a:r>
              <a:rPr lang="vi-VN" sz="720" dirty="0">
                <a:solidFill>
                  <a:srgbClr val="14213D"/>
                </a:solidFill>
              </a:rPr>
              <a:t>BRANDING: I would call this a four star hotel that's slightly rough around the edges. 2. Brand Reputation &amp; Reliability: We felt tha...</a:t>
            </a:r>
            <a:endParaRPr lang="vi-VN" sz="720"/>
          </a:p>
          <a:p>
            <a:r>
              <a:rPr lang="vi-VN" sz="720" dirty="0">
                <a:solidFill>
                  <a:srgbClr val="14213D"/>
                </a:solidFill>
              </a:rPr>
              <a:t/>
            </a:r>
            <a:endParaRPr lang="vi-VN" sz="720"/>
          </a:p>
          <a:p>
            <a:r>
              <a:rPr lang="vi-VN" sz="720" dirty="0">
                <a:solidFill>
                  <a:srgbClr val="14213D"/>
                </a:solidFill>
              </a:rPr>
              <a:t>LOYALTY: I would recommend this hotel to anyone looking for a hotel close to the Miami port and I would definitely stay here again.</a:t>
            </a:r>
            <a:endParaRPr lang="vi-VN" sz="720"/>
          </a:p>
        </p:txBody>
      </p:sp>
      <p:sp>
        <p:nvSpPr>
          <p:cNvPr id="7" name="Text 7"/>
          <p:cNvSpPr txBox="1"/>
          <p:nvPr/>
        </p:nvSpPr>
        <p:spPr>
          <a:xfrm>
            <a:off x="5897880" y="1143000"/>
            <a:ext cx="5303520" cy="3429000"/>
          </a:xfrm>
          <a:prstGeom prst="rect">
            <a:avLst/>
          </a:prstGeom>
          <a:solidFill>
            <a:srgbClr val="ECFDF5"/>
          </a:solidFill>
          <a:ln w="9525">
            <a:solidFill>
              <a:srgbClr val="99F6E4"/>
            </a:solidFill>
          </a:ln>
        </p:spPr>
        <p:txBody>
          <a:bodyPr wrap="square" lIns="91440" tIns="45720" rIns="91440" bIns="45720"/>
          <a:lstStyle/>
          <a:p>
            <a:r>
              <a:rPr lang="vi-VN" sz="880" dirty="0">
                <a:solidFill>
                  <a:srgbClr val="14213D"/>
                </a:solidFill>
              </a:rPr>
              <a:t>Overall entity summary</a:t>
            </a:r>
            <a:endParaRPr lang="vi-VN" sz="880"/>
          </a:p>
          <a:p>
            <a:r>
              <a:rPr lang="vi-VN" sz="880" dirty="0">
                <a:solidFill>
                  <a:srgbClr val="14213D"/>
                </a:solidFill>
              </a:rPr>
              <a:t>This hotel is ok, but for a business traveller is far from ideal. The beds are great and rooms are spacious and beautiful view but the walls are paper thin and you can hear crystal clear conversation tvs sex ect coming from the other room, you can also hear the hallway noise amplified times. The one issue i must stress is do not take the overhead train cars to or from the hotel area after 6pm. Minutes later the manager is back at my door and told me they have resolved the issue with my next door neighbor and asked me if wanted to switch room. 4. EXPERIENCE: The staff was friendly and helpful, and the lobby and bars downstairs were very relaxing and I did spend alot of time there. 5. Brand Reputation &amp; Reliability: I would call this a four star hotel that's slightly rough around the edges</a:t>
            </a:r>
            <a:endParaRPr lang="vi-VN" sz="880"/>
          </a:p>
        </p:txBody>
      </p:sp>
      <p:sp>
        <p:nvSpPr>
          <p:cNvPr id="8" name="Text 8"/>
          <p:cNvSpPr txBox="1"/>
          <p:nvPr/>
        </p:nvSpPr>
        <p:spPr>
          <a:xfrm>
            <a:off x="5897880" y="4800600"/>
            <a:ext cx="5303520" cy="685800"/>
          </a:xfrm>
          <a:prstGeom prst="rect">
            <a:avLst/>
          </a:prstGeom>
          <a:solidFill>
            <a:srgbClr val="EEF6FF"/>
          </a:solidFill>
          <a:ln w="9525">
            <a:solidFill>
              <a:srgbClr val="BFDBFE"/>
            </a:solidFill>
          </a:ln>
        </p:spPr>
        <p:txBody>
          <a:bodyPr wrap="square" lIns="91440" tIns="45720" rIns="91440" bIns="45720"/>
          <a:lstStyle/>
          <a:p>
            <a:r>
              <a:rPr lang="vi-VN" sz="880" dirty="0">
                <a:solidFill>
                  <a:srgbClr val="14213D"/>
                </a:solidFill>
              </a:rPr>
              <a:t>Điều slide này muốn nói</a:t>
            </a:r>
            <a:endParaRPr lang="vi-VN" sz="880"/>
          </a:p>
          <a:p>
            <a:r>
              <a:rPr lang="vi-VN" sz="880" dirty="0">
                <a:solidFill>
                  <a:srgbClr val="14213D"/>
                </a:solidFill>
              </a:rPr>
              <a:t>Pipeline không dừng ở aspect summary. Nó gom 29 child aspects thành 6 parent groups, rồi viết output tổng cho từng khách sạn.</a:t>
            </a:r>
            <a:endParaRPr lang="vi-VN" sz="88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QUALITY</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Metrics và health checks</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777240" y="1325880"/>
            <a:ext cx="4709160" cy="2057400"/>
          </a:xfrm>
          <a:prstGeom prst="rect">
            <a:avLst/>
          </a:prstGeom>
          <a:solidFill>
            <a:srgbClr val="FFFFFF"/>
          </a:solidFill>
          <a:ln w="9525">
            <a:solidFill>
              <a:srgbClr val="D8DEE9"/>
            </a:solidFill>
          </a:ln>
        </p:spPr>
        <p:txBody>
          <a:bodyPr wrap="square" lIns="91440" tIns="45720" rIns="91440" bIns="45720"/>
          <a:lstStyle/>
          <a:p>
            <a:r>
              <a:rPr lang="vi-VN" sz="1250" dirty="0">
                <a:solidFill>
                  <a:srgbClr val="14213D"/>
                </a:solidFill>
              </a:rPr>
              <a:t>source_fidelity: 0.8218032781482577</a:t>
            </a:r>
            <a:endParaRPr lang="vi-VN" sz="1250"/>
          </a:p>
          <a:p>
            <a:r>
              <a:rPr lang="vi-VN" sz="1250" dirty="0">
                <a:solidFill>
                  <a:srgbClr val="14213D"/>
                </a:solidFill>
              </a:rPr>
              <a:t>source_fidelity_excl_truncated: 0.949114060201062</a:t>
            </a:r>
            <a:endParaRPr lang="vi-VN" sz="1250"/>
          </a:p>
          <a:p>
            <a:r>
              <a:rPr lang="vi-VN" sz="1250" dirty="0">
                <a:solidFill>
                  <a:srgbClr val="14213D"/>
                </a:solidFill>
              </a:rPr>
              <a:t>aspect_purity: 0.5536157452246815</a:t>
            </a:r>
            <a:endParaRPr lang="vi-VN" sz="1250"/>
          </a:p>
          <a:p>
            <a:r>
              <a:rPr lang="vi-VN" sz="1250" dirty="0">
                <a:solidFill>
                  <a:srgbClr val="14213D"/>
                </a:solidFill>
              </a:rPr>
              <a:t>distinct_2: 0.6319322824694993</a:t>
            </a:r>
            <a:endParaRPr lang="vi-VN" sz="1250"/>
          </a:p>
          <a:p>
            <a:r>
              <a:rPr lang="vi-VN" sz="1250" dirty="0">
                <a:solidFill>
                  <a:srgbClr val="14213D"/>
                </a:solidFill>
              </a:rPr>
              <a:t>self_bleu4: 0.022273603409544138</a:t>
            </a:r>
            <a:endParaRPr lang="vi-VN" sz="1250"/>
          </a:p>
        </p:txBody>
      </p:sp>
      <p:sp>
        <p:nvSpPr>
          <p:cNvPr id="6" name="Text 6"/>
          <p:cNvSpPr txBox="1"/>
          <p:nvPr/>
        </p:nvSpPr>
        <p:spPr>
          <a:xfrm>
            <a:off x="5577840" y="1325880"/>
            <a:ext cx="5486400" cy="1143000"/>
          </a:xfrm>
          <a:prstGeom prst="rect">
            <a:avLst/>
          </a:prstGeom>
          <a:solidFill>
            <a:srgbClr val="FFFFFF"/>
          </a:solidFill>
          <a:ln w="9525">
            <a:solidFill>
              <a:srgbClr val="D8DEE9"/>
            </a:solidFill>
          </a:ln>
        </p:spPr>
        <p:txBody>
          <a:bodyPr wrap="square" lIns="91440" tIns="45720" rIns="91440" bIns="45720"/>
          <a:lstStyle/>
          <a:p>
            <a:r>
              <a:rPr lang="vi-VN" sz="1250" dirty="0">
                <a:solidFill>
                  <a:srgbClr val="14213D"/>
                </a:solidFill>
              </a:rPr>
              <a:t>HASOS không có gold summary nên dùng reference-free metrics: fidelity, purity, diversity, compression. BERTScore có thể chạy thêm nếu dependency/model tải được.</a:t>
            </a:r>
            <a:endParaRPr lang="vi-VN" sz="12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p:bgPr>
    </p:bg>
    <p:spTree>
      <p:nvGrpSpPr>
        <p:cNvPr id="1" name=""/>
        <p:cNvGrpSpPr/>
        <p:nvPr/>
      </p:nvGrpSpPr>
      <p:grpSpPr>
        <a:xfrm>
          <a:off x="0" y="0"/>
          <a:ext cx="12192000" cy="6858000"/>
          <a:chOff x="0" y="0"/>
          <a:chExt cx="12192000" cy="6858000"/>
        </a:xfrm>
      </p:grpSpPr>
      <p:sp>
        <p:nvSpPr>
          <p:cNvPr id="2" name="Text 2"/>
          <p:cNvSpPr txBox="1"/>
          <p:nvPr/>
        </p:nvSpPr>
        <p:spPr>
          <a:xfrm>
            <a:off x="502920" y="228600"/>
            <a:ext cx="10972800" cy="256032"/>
          </a:xfrm>
          <a:prstGeom prst="rect">
            <a:avLst/>
          </a:prstGeom>
          <a:noFill/>
          <a:ln>
            <a:noFill/>
          </a:ln>
        </p:spPr>
        <p:txBody>
          <a:bodyPr wrap="square" lIns="91440" tIns="45720" rIns="91440" bIns="45720"/>
          <a:lstStyle/>
          <a:p>
            <a:r>
              <a:rPr lang="vi-VN" sz="800" dirty="0">
                <a:b/>
                <a:solidFill>
                  <a:srgbClr val="2563EB"/>
                </a:solidFill>
              </a:rPr>
              <a:t>CAVEATS</a:t>
            </a:r>
            <a:endParaRPr lang="vi-VN" sz="800"/>
          </a:p>
        </p:txBody>
      </p:sp>
      <p:sp>
        <p:nvSpPr>
          <p:cNvPr id="3" name="Text 3"/>
          <p:cNvSpPr txBox="1"/>
          <p:nvPr/>
        </p:nvSpPr>
        <p:spPr>
          <a:xfrm>
            <a:off x="502920" y="512064"/>
            <a:ext cx="10972800" cy="457200"/>
          </a:xfrm>
          <a:prstGeom prst="rect">
            <a:avLst/>
          </a:prstGeom>
          <a:noFill/>
          <a:ln>
            <a:noFill/>
          </a:ln>
        </p:spPr>
        <p:txBody>
          <a:bodyPr wrap="square" lIns="91440" tIns="45720" rIns="91440" bIns="45720"/>
          <a:lstStyle/>
          <a:p>
            <a:r>
              <a:rPr lang="vi-VN" sz="2300" dirty="0">
                <a:b/>
                <a:solidFill>
                  <a:srgbClr val="14213D"/>
                </a:solidFill>
              </a:rPr>
              <a:t>Limitations và quyết định kỹ thuật</a:t>
            </a:r>
            <a:endParaRPr lang="vi-VN" sz="2300"/>
          </a:p>
        </p:txBody>
      </p:sp>
      <p:cxnSp>
        <p:nvCxnSpPr>
          <p:cNvPr id="4" name="Line 4"/>
          <p:cNvCxnSpPr/>
          <p:nvPr/>
        </p:nvCxnSpPr>
        <p:spPr>
          <a:xfrm>
            <a:off x="502920" y="1033271"/>
            <a:ext cx="11155680" cy="0"/>
          </a:xfrm>
          <a:prstGeom prst="line">
            <a:avLst/>
          </a:prstGeom>
          <a:ln w="12700">
            <a:solidFill>
              <a:srgbClr val="D8DEE9"/>
            </a:solidFill>
          </a:ln>
        </p:spPr>
      </p:cxnSp>
      <p:sp>
        <p:nvSpPr>
          <p:cNvPr id="5" name="Text 5"/>
          <p:cNvSpPr txBox="1"/>
          <p:nvPr/>
        </p:nvSpPr>
        <p:spPr>
          <a:xfrm>
            <a:off x="777240" y="1325880"/>
            <a:ext cx="10332720" cy="2194560"/>
          </a:xfrm>
          <a:prstGeom prst="rect">
            <a:avLst/>
          </a:prstGeom>
          <a:solidFill>
            <a:srgbClr val="FFFFFF"/>
          </a:solidFill>
          <a:ln w="9525">
            <a:solidFill>
              <a:srgbClr val="D8DEE9"/>
            </a:solidFill>
          </a:ln>
        </p:spPr>
        <p:txBody>
          <a:bodyPr wrap="square" lIns="91440" tIns="45720" rIns="91440" bIns="45720"/>
          <a:lstStyle/>
          <a:p>
            <a:r>
              <a:rPr lang="vi-VN" sz="1250" dirty="0">
                <a:solidFill>
                  <a:srgbClr val="14213D"/>
                </a:solidFill>
              </a:rPr>
              <a:t>1. Sentiment là keyword post-processing, không phải sentiment-aware ranking.</a:t>
            </a:r>
            <a:endParaRPr lang="vi-VN" sz="1250"/>
          </a:p>
          <a:p>
            <a:r>
              <a:rPr lang="vi-VN" sz="1250" dirty="0">
                <a:solidFill>
                  <a:srgbClr val="14213D"/>
                </a:solidFill>
              </a:rPr>
              <a:t>2. Abstractive summary không còn verbatim traceable như extractive output, nhưng mỗi row giữ threshold evidence provenance.</a:t>
            </a:r>
            <a:endParaRPr lang="vi-VN" sz="1250"/>
          </a:p>
          <a:p>
            <a:r>
              <a:rPr lang="vi-VN" sz="1250" dirty="0">
                <a:solidFill>
                  <a:srgbClr val="14213D"/>
                </a:solidFill>
              </a:rPr>
              <a:t>3. Tokenizer là artifact bắt buộc và phải sync cùng checkpoint.</a:t>
            </a:r>
            <a:endParaRPr lang="vi-VN" sz="1250"/>
          </a:p>
          <a:p>
            <a:r>
              <a:rPr lang="vi-VN" sz="1250" dirty="0">
                <a:solidFill>
                  <a:srgbClr val="14213D"/>
                </a:solidFill>
              </a:rPr>
              <a:t>4. Không dùng output đã truncate làm input synthesis.</a:t>
            </a:r>
            <a:endParaRPr lang="vi-VN" sz="1250"/>
          </a:p>
        </p:txBody>
      </p:sp>
      <p:sp>
        <p:nvSpPr>
          <p:cNvPr id="6" name="Text 6"/>
          <p:cNvSpPr txBox="1"/>
          <p:nvPr/>
        </p:nvSpPr>
        <p:spPr>
          <a:xfrm>
            <a:off x="777240" y="4160520"/>
            <a:ext cx="10332720" cy="594360"/>
          </a:xfrm>
          <a:prstGeom prst="rect">
            <a:avLst/>
          </a:prstGeom>
          <a:solidFill>
            <a:srgbClr val="ECFDF5"/>
          </a:solidFill>
          <a:ln w="9525">
            <a:solidFill>
              <a:srgbClr val="99F6E4"/>
            </a:solidFill>
          </a:ln>
        </p:spPr>
        <p:txBody>
          <a:bodyPr wrap="square" lIns="91440" tIns="45720" rIns="91440" bIns="45720"/>
          <a:lstStyle/>
          <a:p>
            <a:r>
              <a:rPr lang="vi-VN" sz="1300" dirty="0">
                <a:b/>
                <a:solidFill>
                  <a:srgbClr val="14213D"/>
                </a:solidFill>
              </a:rPr>
              <a:t>Final deck path: outputs/space_hasos_threshold_full_report.pptx</a:t>
            </a:r>
            <a:endParaRPr lang="vi-VN" sz="1300"/>
          </a:p>
        </p:txBody>
      </p:sp>
    </p:spTree>
  </p:cSld>
  <p:clrMapOvr>
    <a:masterClrMapping/>
  </p:clrMapOvr>
</p:sld>
</file>

<file path=ppt/theme/theme1.xml><?xml version="1.0" encoding="utf-8"?>
<a:theme xmlns:a="http://schemas.openxmlformats.org/drawingml/2006/main" name="SemAE">
  <a:themeElements>
    <a:clrScheme name="SemAE">
      <a:dk1>
        <a:srgbClr val="14213D"/>
      </a:dk1>
      <a:lt1>
        <a:srgbClr val="FFFFFF"/>
      </a:lt1>
      <a:dk2>
        <a:srgbClr val="56616F"/>
      </a:dk2>
      <a:lt2>
        <a:srgbClr val="F8FAFC"/>
      </a:lt2>
      <a:accent1>
        <a:srgbClr val="2563EB"/>
      </a:accent1>
      <a:accent2>
        <a:srgbClr val="0F766E"/>
      </a:accent2>
      <a:accent3>
        <a:srgbClr val="B7791F"/>
      </a:accent3>
      <a:accent4>
        <a:srgbClr val="B42318"/>
      </a:accent4>
      <a:accent5>
        <a:srgbClr val="64748B"/>
      </a:accent5>
      <a:accent6>
        <a:srgbClr val="0EA5E9"/>
      </a:accent6>
      <a:hlink>
        <a:srgbClr val="2563EB"/>
      </a:hlink>
      <a:folHlink>
        <a:srgbClr val="7C3AED"/>
      </a:folHlink>
    </a:clrScheme>
    <a:fontScheme name="Aptos">
      <a:majorFont>
        <a:latin typeface="Aptos Display"/>
      </a:majorFont>
      <a:minorFont>
        <a:latin typeface="Aptos"/>
      </a:minorFont>
    </a:fontScheme>
    <a:fmtScheme name="SemA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SemAE pipeline</Application>
  <PresentationFormat>Widescreen</PresentationFormat>
  <Slides>11</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SemAE HASOS pipeline report</dc:title>
  <dc:creator>SemAE pipeline</dc:creator>
  <cp:lastModifiedBy>SemAE pipeline</cp:lastModifiedBy>
  <dcterms:created xsi:type="dcterms:W3CDTF">2026-06-11T13:25:50.483990+00:00</dcterms:created>
  <dcterms:modified xsi:type="dcterms:W3CDTF">2026-06-11T13:25:50.483990+00:00</dcterms:modified>
</cp:coreProperties>
</file>