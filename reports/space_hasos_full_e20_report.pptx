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9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 type="wide"/>
  <p:notesSz cx="6858000" cy="9144000"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Master" Target="slideMasters/slide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Relationship Id="rId1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SPACE_HASOS_FULL_E20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SPACE-trained SemAE cho HASOS aspect/sentiment summary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325880"/>
            <a:ext cx="566928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1550" dirty="0">
                <a:solidFill>
                  <a:srgbClr val="14213D"/>
                </a:solidFill>
              </a:rPr>
              <a:t>Deck này ghi lại pipeline sau training: SemAE checkpoint được dùng để chọn câu theo 29 HASOS aspects, sau đó tách sentiment trên chính các câu đã chọn.</a:t>
            </a:r>
            <a:endParaRPr lang="vi-VN" sz="1550"/>
          </a:p>
        </p:txBody>
      </p:sp>
      <p:sp>
        <p:nvSpPr>
          <p:cNvPr id="6" name="Text 6"/>
          <p:cNvSpPr txBox="1"/>
          <p:nvPr/>
        </p:nvSpPr>
        <p:spPr>
          <a:xfrm>
            <a:off x="6629400" y="1325880"/>
            <a:ext cx="44805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350" dirty="0">
                <a:solidFill>
                  <a:srgbClr val="14213D"/>
                </a:solidFill>
              </a:rPr>
              <a:t>Training: SPACE training run</a:t>
            </a:r>
            <a:endParaRPr lang="vi-VN" sz="1350"/>
          </a:p>
          <a:p>
            <a:r>
              <a:rPr lang="vi-VN" sz="1350" dirty="0">
                <a:solidFill>
                  <a:srgbClr val="14213D"/>
                </a:solidFill>
              </a:rPr>
              <a:t>Output modes: 2</a:t>
            </a:r>
            <a:endParaRPr lang="vi-VN" sz="1350"/>
          </a:p>
          <a:p>
            <a:r>
              <a:rPr lang="vi-VN" sz="1350" dirty="0">
                <a:solidFill>
                  <a:srgbClr val="14213D"/>
                </a:solidFill>
              </a:rPr>
              <a:t>HASOS aspects: 29</a:t>
            </a:r>
            <a:endParaRPr lang="vi-VN" sz="1350"/>
          </a:p>
          <a:p>
            <a:r>
              <a:rPr lang="vi-VN" sz="1350" dirty="0">
                <a:solidFill>
                  <a:srgbClr val="14213D"/>
                </a:solidFill>
              </a:rPr>
              <a:t>Trace rows: 20</a:t>
            </a:r>
            <a:endParaRPr lang="vi-VN" sz="1350"/>
          </a:p>
        </p:txBody>
      </p:sp>
      <p:sp>
        <p:nvSpPr>
          <p:cNvPr id="7" name="Text 7"/>
          <p:cNvSpPr txBox="1"/>
          <p:nvPr/>
        </p:nvSpPr>
        <p:spPr>
          <a:xfrm>
            <a:off x="685800" y="3154680"/>
            <a:ext cx="104241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solidFill>
                  <a:srgbClr val="14213D"/>
                </a:solidFill>
              </a:rPr>
              <a:t>Output 1: Aspect-only summary giữ lẫn positive/negative/neutral.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Output 2: Aspect + sentiment tách pos/neg/neu từ cùng câu đã được chọn.</a:t>
            </a:r>
            <a:endParaRPr lang="vi-VN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MECHANISM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Pipeline từ input tới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59436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1 Input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hasos_summ.json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reviews grouped by entity</a:t>
            </a:r>
            <a:endParaRPr lang="vi-VN" sz="1050"/>
          </a:p>
        </p:txBody>
      </p:sp>
      <p:sp>
        <p:nvSpPr>
          <p:cNvPr id="6" name="Text 6"/>
          <p:cNvSpPr txBox="1"/>
          <p:nvPr/>
        </p:nvSpPr>
        <p:spPr>
          <a:xfrm>
            <a:off x="274320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2 Tokenize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SPACE SentencePiece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same tokenizer as checkpoint</a:t>
            </a:r>
            <a:endParaRPr lang="vi-VN" sz="1050"/>
          </a:p>
        </p:txBody>
      </p:sp>
      <p:sp>
        <p:nvSpPr>
          <p:cNvPr id="7" name="Text 7"/>
          <p:cNvSpPr txBox="1"/>
          <p:nvPr/>
        </p:nvSpPr>
        <p:spPr>
          <a:xfrm>
            <a:off x="489204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3 Encode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SemAE cluster distribution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D_z(s) per sentence</a:t>
            </a:r>
            <a:endParaRPr lang="vi-VN" sz="1050"/>
          </a:p>
        </p:txBody>
      </p:sp>
      <p:sp>
        <p:nvSpPr>
          <p:cNvPr id="8" name="Text 8"/>
          <p:cNvSpPr txBox="1"/>
          <p:nvPr/>
        </p:nvSpPr>
        <p:spPr>
          <a:xfrm>
            <a:off x="704088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4 Aspect rank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KL(D_z||P_z) - beta*KL(D_z||P_k)</a:t>
            </a:r>
            <a:endParaRPr lang="vi-VN" sz="1050"/>
          </a:p>
        </p:txBody>
      </p:sp>
      <p:sp>
        <p:nvSpPr>
          <p:cNvPr id="9" name="Text 9"/>
          <p:cNvSpPr txBox="1"/>
          <p:nvPr/>
        </p:nvSpPr>
        <p:spPr>
          <a:xfrm>
            <a:off x="918972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5 Output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truncate top sentences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then sentiment split</a:t>
            </a:r>
            <a:endParaRPr lang="vi-VN" sz="1050"/>
          </a:p>
        </p:txBody>
      </p:sp>
      <p:sp>
        <p:nvSpPr>
          <p:cNvPr id="10" name="Text 10"/>
          <p:cNvSpPr txBox="1"/>
          <p:nvPr/>
        </p:nvSpPr>
        <p:spPr>
          <a:xfrm>
            <a:off x="685800" y="3429000"/>
            <a:ext cx="10424160" cy="77724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Biến thể so với SemAE gốc: taxonomy/seeds đổi sang HASOS 29 aspects; sentiment không tham gia ranking mà chỉ là post-processing.</a:t>
            </a:r>
            <a:endParaRPr lang="vi-VN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READINESS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Artifact gate và dữ liệu chuẩn bị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539496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00" dirty="0">
                <a:solidFill>
                  <a:srgbClr val="14213D"/>
                </a:solidFill>
              </a:rPr>
              <a:t>OK artifact:space_sentencepiece_exact_gate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inference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inference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export_lines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export_lines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summarize_outputs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summarize_outputs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score_outputs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score_outputs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build_pptx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build_pptx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pipeline_complete</a:t>
            </a:r>
            <a:endParaRPr lang="vi-VN" sz="1000"/>
          </a:p>
        </p:txBody>
      </p:sp>
      <p:sp>
        <p:nvSpPr>
          <p:cNvPr id="6" name="Text 6"/>
          <p:cNvSpPr txBox="1"/>
          <p:nvPr/>
        </p:nvSpPr>
        <p:spPr>
          <a:xfrm>
            <a:off x="6400800" y="1234440"/>
            <a:ext cx="4892040" cy="169164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Hard gate quan trọng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Checkpoint SemAE không tự chứa SentencePiece model. Nếu `space_unigram_32k.model` không khớp tokenizer lúc train, token id sẽ sai và inference không đáng tin.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6400800" y="3246120"/>
            <a:ext cx="48920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Validate hiện tại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entities=50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reviews=5000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sentences=45529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aspects=29</a:t>
            </a:r>
            <a:endParaRPr lang="vi-VN" sz="12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FORMULA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SemAE scoring theo aspect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31520" y="1325880"/>
            <a:ext cx="104241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900" dirty="0">
                <a:b/>
                <a:solidFill>
                  <a:srgbClr val="14213D"/>
                </a:solidFill>
              </a:rPr>
              <a:t>score(s, k) = KL(D_z(s) || P_z) - beta * KL(D_z(s) || P_k)</a:t>
            </a:r>
            <a:endParaRPr lang="vi-VN" sz="1900"/>
          </a:p>
        </p:txBody>
      </p:sp>
      <p:sp>
        <p:nvSpPr>
          <p:cNvPr id="6" name="Text 6"/>
          <p:cNvSpPr txBox="1"/>
          <p:nvPr/>
        </p:nvSpPr>
        <p:spPr>
          <a:xfrm>
            <a:off x="822960" y="2286000"/>
            <a:ext cx="521208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D_z(s): phân phối cluster của câu s.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P_z: background distribution.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P_k: prototype distribution của aspect k.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beta=0.7 theo recipe hiện tại.</a:t>
            </a:r>
            <a:endParaRPr lang="vi-VN" sz="1250"/>
          </a:p>
        </p:txBody>
      </p:sp>
      <p:sp>
        <p:nvSpPr>
          <p:cNvPr id="7" name="Text 7"/>
          <p:cNvSpPr txBox="1"/>
          <p:nvPr/>
        </p:nvSpPr>
        <p:spPr>
          <a:xfrm>
            <a:off x="6400800" y="2286000"/>
            <a:ext cx="4937760" cy="123444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Câu có score thấp hơn được ưu tiên. Output là extractive: chọn và nối câu gốc thay vì paraphrase, nên có thể trace ngược về review/entity.</a:t>
            </a:r>
            <a:endParaRPr lang="vi-VN" sz="12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OUTPUT 1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Ví dụ aspect-only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2926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b/>
                <a:solidFill>
                  <a:srgbClr val="14213D"/>
                </a:solidFill>
              </a:rPr>
              <a:t>Entity: 100585</a:t>
            </a:r>
            <a:endParaRPr lang="vi-VN" sz="1250"/>
          </a:p>
          <a:p>
            <a:r>
              <a:rPr lang="vi-VN" sz="1250" dirty="0">
                <a:b/>
                <a:solidFill>
                  <a:srgbClr val="14213D"/>
                </a:solidFill>
              </a:rPr>
              <a:t>Aspect: AM_ENT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3794760" y="1234440"/>
            <a:ext cx="73152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1. I filled out one of their comment cards with a minor complaint (we found the tv system cumbersome) and I actualy received an e mail from the hotel management!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/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2. Each room is named after a Washington winery, and one of</a:t>
            </a:r>
            <a:endParaRPr lang="vi-VN"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OUTPUT 2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Ví dụ aspect + sentiment split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10515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POS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(empty)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/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NEG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(empty)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/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NEU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- I filled out one of their comment cards with a minor complaint (we found the tv system cumbersome) and I actualy received an e mail ...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- Each room is named after a Washington winery, and one of</a:t>
            </a:r>
            <a:endParaRPr lang="vi-VN" sz="10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QUALITY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Metrics và health checks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77240" y="1325880"/>
            <a:ext cx="448056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450" dirty="0">
                <a:solidFill>
                  <a:srgbClr val="14213D"/>
                </a:solidFill>
              </a:rPr>
              <a:t>source_fidelity: 0.6094320692641413</a:t>
            </a:r>
            <a:endParaRPr lang="vi-VN" sz="1450"/>
          </a:p>
          <a:p>
            <a:r>
              <a:rPr lang="vi-VN" sz="1450" dirty="0">
                <a:solidFill>
                  <a:srgbClr val="14213D"/>
                </a:solidFill>
              </a:rPr>
              <a:t>aspect_purity: 0.5516646622593705</a:t>
            </a:r>
            <a:endParaRPr lang="vi-VN" sz="1450"/>
          </a:p>
          <a:p>
            <a:r>
              <a:rPr lang="vi-VN" sz="1450" dirty="0">
                <a:solidFill>
                  <a:srgbClr val="14213D"/>
                </a:solidFill>
              </a:rPr>
              <a:t>distinct_2: 0.7179243707434944</a:t>
            </a:r>
            <a:endParaRPr lang="vi-VN" sz="1450"/>
          </a:p>
          <a:p>
            <a:r>
              <a:rPr lang="vi-VN" sz="1450" dirty="0">
                <a:solidFill>
                  <a:srgbClr val="14213D"/>
                </a:solidFill>
              </a:rPr>
              <a:t>self_bleu4: 0.01087499632043265</a:t>
            </a:r>
            <a:endParaRPr lang="vi-VN" sz="1450"/>
          </a:p>
        </p:txBody>
      </p:sp>
      <p:sp>
        <p:nvSpPr>
          <p:cNvPr id="6" name="Text 6"/>
          <p:cNvSpPr txBox="1"/>
          <p:nvPr/>
        </p:nvSpPr>
        <p:spPr>
          <a:xfrm>
            <a:off x="5577840" y="1325880"/>
            <a:ext cx="54864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HASOS không có gold summary nên dùng reference-free metrics: fidelity, purity, diversity, compression. BERTScore có thể chạy thêm nếu dependency/model tải được.</a:t>
            </a:r>
            <a:endParaRPr lang="vi-VN" sz="12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CAVEATS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Limitations và quyết định kỹ thuật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77240" y="1325880"/>
            <a:ext cx="103327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1. Sentiment là keyword post-processing, không phải sentiment-aware ranking.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2. Output extractive nên traceable nhưng có thể dài hoặc multi-aspect.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3. Tokenizer là artifact bắt buộc và phải sync cùng checkpoint.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4. Run này ưu tiên có output đúng pipeline trước deadline; xem trace/log để đánh giá độ sạch numerical.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777240" y="4160520"/>
            <a:ext cx="10332720" cy="59436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b/>
                <a:solidFill>
                  <a:srgbClr val="14213D"/>
                </a:solidFill>
              </a:rPr>
              <a:t>Final deck path: outputs/space_hasos_full_e20_pipeline_report.pptx</a:t>
            </a:r>
            <a:endParaRPr lang="vi-VN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mAE">
  <a:themeElements>
    <a:clrScheme name="SemAE">
      <a:dk1>
        <a:srgbClr val="14213D"/>
      </a:dk1>
      <a:lt1>
        <a:srgbClr val="FFFFFF"/>
      </a:lt1>
      <a:dk2>
        <a:srgbClr val="56616F"/>
      </a:dk2>
      <a:lt2>
        <a:srgbClr val="F8FAFC"/>
      </a:lt2>
      <a:accent1>
        <a:srgbClr val="2563EB"/>
      </a:accent1>
      <a:accent2>
        <a:srgbClr val="0F766E"/>
      </a:accent2>
      <a:accent3>
        <a:srgbClr val="B7791F"/>
      </a:accent3>
      <a:accent4>
        <a:srgbClr val="B42318"/>
      </a:accent4>
      <a:accent5>
        <a:srgbClr val="64748B"/>
      </a:accent5>
      <a:accent6>
        <a:srgbClr val="0EA5E9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SemA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SemAE pipeline</Application>
  <PresentationFormat>Widescreen</PresentationFormat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SemAE HASOS pipeline report</dc:title>
  <dc:creator>SemAE pipeline</dc:creator>
  <cp:lastModifiedBy>SemAE pipeline</cp:lastModifiedBy>
  <dcterms:created xsi:type="dcterms:W3CDTF">2026-06-09T04:55:25.427361+00:00</dcterms:created>
  <dcterms:modified xsi:type="dcterms:W3CDTF">2026-06-09T04:55:25.427361+00:00</dcterms:modified>
</cp:coreProperties>
</file>