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 type="wide"/>
  <p:notesSz cx="6858000" cy="9144000"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Relationship Id="rId14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SPACE_HASOS_FULL_E20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SPACE-trained SemAE cho HASOS aspect/sentiment summary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325880"/>
            <a:ext cx="566928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1550" dirty="0">
                <a:solidFill>
                  <a:srgbClr val="14213D"/>
                </a:solidFill>
              </a:rPr>
              <a:t>Deck này ghi lại pipeline sau training: SemAE checkpoint được dùng để chọn câu theo 29 HASOS aspects, sau đó tách sentiment trên chính các câu đã chọn.</a:t>
            </a:r>
            <a:endParaRPr lang="vi-VN" sz="1550"/>
          </a:p>
        </p:txBody>
      </p:sp>
      <p:sp>
        <p:nvSpPr>
          <p:cNvPr id="6" name="Text 6"/>
          <p:cNvSpPr txBox="1"/>
          <p:nvPr/>
        </p:nvSpPr>
        <p:spPr>
          <a:xfrm>
            <a:off x="6629400" y="1325880"/>
            <a:ext cx="448056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350" dirty="0">
                <a:solidFill>
                  <a:srgbClr val="14213D"/>
                </a:solidFill>
              </a:rPr>
              <a:t>Training: SPACE training run</a:t>
            </a:r>
            <a:endParaRPr lang="vi-VN" sz="1350"/>
          </a:p>
          <a:p>
            <a:r>
              <a:rPr lang="vi-VN" sz="1350" dirty="0">
                <a:solidFill>
                  <a:srgbClr val="14213D"/>
                </a:solidFill>
              </a:rPr>
              <a:t>Output modes: 2</a:t>
            </a:r>
            <a:endParaRPr lang="vi-VN" sz="1350"/>
          </a:p>
          <a:p>
            <a:r>
              <a:rPr lang="vi-VN" sz="1350" dirty="0">
                <a:solidFill>
                  <a:srgbClr val="14213D"/>
                </a:solidFill>
              </a:rPr>
              <a:t>HASOS aspects: 29</a:t>
            </a:r>
            <a:endParaRPr lang="vi-VN" sz="1350"/>
          </a:p>
          <a:p>
            <a:r>
              <a:rPr lang="vi-VN" sz="1350" dirty="0">
                <a:solidFill>
                  <a:srgbClr val="14213D"/>
                </a:solidFill>
              </a:rPr>
              <a:t>Trace rows: 20</a:t>
            </a:r>
            <a:endParaRPr lang="vi-VN" sz="1350"/>
          </a:p>
        </p:txBody>
      </p:sp>
      <p:sp>
        <p:nvSpPr>
          <p:cNvPr id="7" name="Text 7"/>
          <p:cNvSpPr txBox="1"/>
          <p:nvPr/>
        </p:nvSpPr>
        <p:spPr>
          <a:xfrm>
            <a:off x="685800" y="3154680"/>
            <a:ext cx="104241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solidFill>
                  <a:srgbClr val="14213D"/>
                </a:solidFill>
              </a:rPr>
              <a:t>Output 1: Aspect-only summary giữ lẫn positive/negative/neutral.</a:t>
            </a:r>
            <a:endParaRPr lang="vi-VN" sz="1300"/>
          </a:p>
          <a:p>
            <a:r>
              <a:rPr lang="vi-VN" sz="1300" dirty="0">
                <a:solidFill>
                  <a:srgbClr val="14213D"/>
                </a:solidFill>
              </a:rPr>
              <a:t>Output 2: Aspect + sentiment tách pos/neg/neu từ cùng câu đã được chọn.</a:t>
            </a:r>
            <a:endParaRPr lang="vi-VN"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MECHANISM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Pipeline từ input tới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59436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1 Input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hasos_summ.json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reviews grouped by entity</a:t>
            </a:r>
            <a:endParaRPr lang="vi-VN" sz="1050"/>
          </a:p>
        </p:txBody>
      </p:sp>
      <p:sp>
        <p:nvSpPr>
          <p:cNvPr id="6" name="Text 6"/>
          <p:cNvSpPr txBox="1"/>
          <p:nvPr/>
        </p:nvSpPr>
        <p:spPr>
          <a:xfrm>
            <a:off x="274320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2 Tokenize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SPACE SentencePiece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same tokenizer as checkpoint</a:t>
            </a:r>
            <a:endParaRPr lang="vi-VN" sz="1050"/>
          </a:p>
        </p:txBody>
      </p:sp>
      <p:sp>
        <p:nvSpPr>
          <p:cNvPr id="7" name="Text 7"/>
          <p:cNvSpPr txBox="1"/>
          <p:nvPr/>
        </p:nvSpPr>
        <p:spPr>
          <a:xfrm>
            <a:off x="489204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3 Encode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SemAE cluster distribution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D_z(s) per sentence</a:t>
            </a:r>
            <a:endParaRPr lang="vi-VN" sz="1050"/>
          </a:p>
        </p:txBody>
      </p:sp>
      <p:sp>
        <p:nvSpPr>
          <p:cNvPr id="8" name="Text 8"/>
          <p:cNvSpPr txBox="1"/>
          <p:nvPr/>
        </p:nvSpPr>
        <p:spPr>
          <a:xfrm>
            <a:off x="704088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4 Aspect rank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KL(D_z||P_z) - beta*KL(D_z||P_k)</a:t>
            </a:r>
            <a:endParaRPr lang="vi-VN" sz="1050"/>
          </a:p>
        </p:txBody>
      </p:sp>
      <p:sp>
        <p:nvSpPr>
          <p:cNvPr id="9" name="Text 9"/>
          <p:cNvSpPr txBox="1"/>
          <p:nvPr/>
        </p:nvSpPr>
        <p:spPr>
          <a:xfrm>
            <a:off x="9189720" y="1325880"/>
            <a:ext cx="20116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5 Output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truncate top sentences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then sentiment split</a:t>
            </a:r>
            <a:endParaRPr lang="vi-VN" sz="1050"/>
          </a:p>
        </p:txBody>
      </p:sp>
      <p:sp>
        <p:nvSpPr>
          <p:cNvPr id="10" name="Text 10"/>
          <p:cNvSpPr txBox="1"/>
          <p:nvPr/>
        </p:nvSpPr>
        <p:spPr>
          <a:xfrm>
            <a:off x="685800" y="3429000"/>
            <a:ext cx="10424160" cy="77724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Biến thể so với SemAE gốc: taxonomy/seeds đổi sang HASOS 29 aspects; sentiment không tham gia ranking mà chỉ là post-processing.</a:t>
            </a:r>
            <a:endParaRPr lang="vi-VN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READINESS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Artifact gate và dữ liệu chuẩn bị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539496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00" dirty="0">
                <a:solidFill>
                  <a:srgbClr val="14213D"/>
                </a:solidFill>
              </a:rPr>
              <a:t>OK artifact:space_sentencepiece_exact_gate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inference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inference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export_lines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export_lines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summarize_outputs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summarize_outputs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score_outputs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score_outputs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START build_pptx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build_pptx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OK pipeline_complete</a:t>
            </a:r>
            <a:endParaRPr lang="vi-VN" sz="1000"/>
          </a:p>
        </p:txBody>
      </p:sp>
      <p:sp>
        <p:nvSpPr>
          <p:cNvPr id="6" name="Text 6"/>
          <p:cNvSpPr txBox="1"/>
          <p:nvPr/>
        </p:nvSpPr>
        <p:spPr>
          <a:xfrm>
            <a:off x="6400800" y="1234440"/>
            <a:ext cx="4892040" cy="1691640"/>
          </a:xfrm>
          <a:prstGeom prst="rect">
            <a:avLst/>
          </a:prstGeom>
          <a:solidFill>
            <a:srgbClr val="FFF7ED"/>
          </a:solidFill>
          <a:ln w="9525">
            <a:solidFill>
              <a:srgbClr val="FDBA74"/>
            </a:solidFill>
          </a:ln>
        </p:spPr>
        <p:txBody>
          <a:bodyPr wrap="square" lIns="91440" tIns="45720" rIns="91440" bIns="45720"/>
          <a:lstStyle/>
          <a:p>
            <a:r>
              <a:rPr lang="vi-VN" sz="1200" dirty="0">
                <a:solidFill>
                  <a:srgbClr val="14213D"/>
                </a:solidFill>
              </a:rPr>
              <a:t>Hard gate quan trọng</a:t>
            </a:r>
            <a:endParaRPr lang="vi-VN" sz="1200"/>
          </a:p>
          <a:p>
            <a:r>
              <a:rPr lang="vi-VN" sz="1200" dirty="0">
                <a:solidFill>
                  <a:srgbClr val="14213D"/>
                </a:solidFill>
              </a:rPr>
              <a:t>Checkpoint SemAE không tự chứa SentencePiece model. Nếu `space_unigram_32k.model` không khớp tokenizer lúc train, token id sẽ sai và inference không đáng tin.</a:t>
            </a:r>
            <a:endParaRPr lang="vi-VN" sz="1200"/>
          </a:p>
        </p:txBody>
      </p:sp>
      <p:sp>
        <p:nvSpPr>
          <p:cNvPr id="7" name="Text 7"/>
          <p:cNvSpPr txBox="1"/>
          <p:nvPr/>
        </p:nvSpPr>
        <p:spPr>
          <a:xfrm>
            <a:off x="6400800" y="3246120"/>
            <a:ext cx="489204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Validate hiện tại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entities=50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reviews=5000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sentences=45529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aspects=29</a:t>
            </a:r>
            <a:endParaRPr lang="vi-VN" sz="12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TRACEABILITY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Provenance cho từng câu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4389120" cy="155448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Aspect summary rows: 3660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Provenance rows: 3580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Coverage: 0.9781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File: outputs/space_hasos_full_e20_provenance.jsonl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5394960" y="1234440"/>
            <a:ext cx="5715000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00" dirty="0">
                <a:solidFill>
                  <a:srgbClr val="14213D"/>
                </a:solidFill>
              </a:rPr>
              <a:t>entity=100597 | aspect=FAC_ROOM | rank=1 | review=UR116685264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seed=['room'] | sentiment=pos ['clean', 'comfortable']</a:t>
            </a:r>
            <a:endParaRPr lang="vi-VN" sz="1000"/>
          </a:p>
          <a:p>
            <a:r>
              <a:rPr lang="vi-VN" sz="1000" dirty="0">
                <a:solidFill>
                  <a:srgbClr val="14213D"/>
                </a:solidFill>
              </a:rPr>
              <a:t>sentence: We had a balcony, the beds were super comfortable, room was a good size and clean.</a:t>
            </a:r>
            <a:endParaRPr lang="vi-VN" sz="1000"/>
          </a:p>
        </p:txBody>
      </p:sp>
      <p:sp>
        <p:nvSpPr>
          <p:cNvPr id="7" name="Text 7"/>
          <p:cNvSpPr txBox="1"/>
          <p:nvPr/>
        </p:nvSpPr>
        <p:spPr>
          <a:xfrm>
            <a:off x="685800" y="3703320"/>
            <a:ext cx="10424160" cy="914400"/>
          </a:xfrm>
          <a:prstGeom prst="rect">
            <a:avLst/>
          </a:prstGeom>
          <a:solidFill>
            <a:srgbClr val="EEF6FF"/>
          </a:solidFill>
          <a:ln w="9525">
            <a:solidFill>
              <a:srgbClr val="BFDBFE"/>
            </a:solidFill>
          </a:ln>
        </p:spPr>
        <p:txBody>
          <a:bodyPr wrap="square" lIns="91440" tIns="45720" rIns="91440" bIns="45720"/>
          <a:lstStyle/>
          <a:p>
            <a:r>
              <a:rPr lang="vi-VN" sz="1100" dirty="0">
                <a:solidFill>
                  <a:srgbClr val="14213D"/>
                </a:solidFill>
              </a:rPr>
              <a:t>Mỗi câu summary ghi: entity/split/aspect, summary_sentence_index, rank/score/beta, source_review_id, source_sentence_index, matched_aspect_seed, sentiment_label, matched_sentiment_keywords, was_truncated. Metric mới source_fidelity_excl_truncated loại câu bị cắt khỏi exact-match denominator.</a:t>
            </a:r>
            <a:endParaRPr lang="vi-VN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FORMULA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SemAE scoring theo aspect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31520" y="1325880"/>
            <a:ext cx="10424160" cy="594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900" dirty="0">
                <a:b/>
                <a:solidFill>
                  <a:srgbClr val="14213D"/>
                </a:solidFill>
              </a:rPr>
              <a:t>score(s, k) = KL(D_z(s) || P_z) - beta * KL(D_z(s) || P_k)</a:t>
            </a:r>
            <a:endParaRPr lang="vi-VN" sz="1900"/>
          </a:p>
        </p:txBody>
      </p:sp>
      <p:sp>
        <p:nvSpPr>
          <p:cNvPr id="6" name="Text 6"/>
          <p:cNvSpPr txBox="1"/>
          <p:nvPr/>
        </p:nvSpPr>
        <p:spPr>
          <a:xfrm>
            <a:off x="822960" y="2286000"/>
            <a:ext cx="5212080" cy="16459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D_z(s): phân phối cluster của câu s.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P_z: background distribution.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P_k: prototype distribution của aspect k.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beta=0.7 theo recipe hiện tại.</a:t>
            </a:r>
            <a:endParaRPr lang="vi-VN" sz="1250"/>
          </a:p>
        </p:txBody>
      </p:sp>
      <p:sp>
        <p:nvSpPr>
          <p:cNvPr id="7" name="Text 7"/>
          <p:cNvSpPr txBox="1"/>
          <p:nvPr/>
        </p:nvSpPr>
        <p:spPr>
          <a:xfrm>
            <a:off x="6400800" y="2286000"/>
            <a:ext cx="4937760" cy="123444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Câu có score thấp hơn được ưu tiên. Output là extractive: chọn và nối câu gốc thay vì paraphrase, nên có thể trace ngược về review/entity.</a:t>
            </a:r>
            <a:endParaRPr lang="vi-VN" sz="12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OUTPUT 1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Ví dụ aspect-only output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29260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b/>
                <a:solidFill>
                  <a:srgbClr val="14213D"/>
                </a:solidFill>
              </a:rPr>
              <a:t>Entity: 100585</a:t>
            </a:r>
            <a:endParaRPr lang="vi-VN" sz="1250"/>
          </a:p>
          <a:p>
            <a:r>
              <a:rPr lang="vi-VN" sz="1250" dirty="0">
                <a:b/>
                <a:solidFill>
                  <a:srgbClr val="14213D"/>
                </a:solidFill>
              </a:rPr>
              <a:t>Aspect: AM_ENT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3794760" y="1234440"/>
            <a:ext cx="73152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1. I filled out one of their comment cards with a minor complaint (we found the tv system cumbersome) and I actualy received an e mail from the hotel management!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/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2. Each room is named after a Washington winery, and one of</a:t>
            </a:r>
            <a:endParaRPr lang="vi-VN" sz="10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OUTPUT 2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Ví dụ aspect + sentiment split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685800" y="1234440"/>
            <a:ext cx="10515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050" dirty="0">
                <a:solidFill>
                  <a:srgbClr val="14213D"/>
                </a:solidFill>
              </a:rPr>
              <a:t>POS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(empty)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/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NEG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(empty)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/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NEU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- I filled out one of their comment cards with a minor complaint (we found the tv system cumbersome) and I actualy received an e mail ...</a:t>
            </a:r>
            <a:endParaRPr lang="vi-VN" sz="1050"/>
          </a:p>
          <a:p>
            <a:r>
              <a:rPr lang="vi-VN" sz="1050" dirty="0">
                <a:solidFill>
                  <a:srgbClr val="14213D"/>
                </a:solidFill>
              </a:rPr>
              <a:t>- Each room is named after a Washington winery, and one of</a:t>
            </a:r>
            <a:endParaRPr lang="vi-VN" sz="10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QUALITY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Metrics và health checks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77240" y="1325880"/>
            <a:ext cx="470916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source_fidelity: 0.6094320692641413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source_fidelity_excl_truncated: 0.96920875509799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aspect_purity: 0.5516646622593705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distinct_2: 0.7179243707434944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self_bleu4: 0.01087499632043265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5577840" y="1325880"/>
            <a:ext cx="54864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HASOS không có gold summary nên dùng reference-free metrics: fidelity, purity, diversity, compression. BERTScore có thể chạy thêm nếu dependency/model tải được.</a:t>
            </a:r>
            <a:endParaRPr lang="vi-VN" sz="12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Text 2"/>
          <p:cNvSpPr txBox="1"/>
          <p:nvPr/>
        </p:nvSpPr>
        <p:spPr>
          <a:xfrm>
            <a:off x="502920" y="2286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800" dirty="0">
                <a:b/>
                <a:solidFill>
                  <a:srgbClr val="2563EB"/>
                </a:solidFill>
              </a:rPr>
              <a:t>CAVEATS</a:t>
            </a:r>
            <a:endParaRPr lang="vi-VN" sz="800"/>
          </a:p>
        </p:txBody>
      </p:sp>
      <p:sp>
        <p:nvSpPr>
          <p:cNvPr id="3" name="Text 3"/>
          <p:cNvSpPr txBox="1"/>
          <p:nvPr/>
        </p:nvSpPr>
        <p:spPr>
          <a:xfrm>
            <a:off x="502920" y="512064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vi-VN" sz="2300" dirty="0">
                <a:b/>
                <a:solidFill>
                  <a:srgbClr val="14213D"/>
                </a:solidFill>
              </a:rPr>
              <a:t>Limitations và quyết định kỹ thuật</a:t>
            </a:r>
            <a:endParaRPr lang="vi-VN" sz="2300"/>
          </a:p>
        </p:txBody>
      </p:sp>
      <p:cxnSp>
        <p:nvCxnSpPr>
          <p:cNvPr id="4" name="Line 4"/>
          <p:cNvCxnSpPr/>
          <p:nvPr/>
        </p:nvCxnSpPr>
        <p:spPr>
          <a:xfrm>
            <a:off x="502920" y="1033271"/>
            <a:ext cx="11155680" cy="0"/>
          </a:xfrm>
          <a:prstGeom prst="line">
            <a:avLst/>
          </a:prstGeom>
          <a:ln w="12700">
            <a:solidFill>
              <a:srgbClr val="D8DEE9"/>
            </a:solidFill>
          </a:ln>
        </p:spPr>
      </p:cxnSp>
      <p:sp>
        <p:nvSpPr>
          <p:cNvPr id="5" name="Text 5"/>
          <p:cNvSpPr txBox="1"/>
          <p:nvPr/>
        </p:nvSpPr>
        <p:spPr>
          <a:xfrm>
            <a:off x="777240" y="1325880"/>
            <a:ext cx="103327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EE9"/>
            </a:solidFill>
          </a:ln>
        </p:spPr>
        <p:txBody>
          <a:bodyPr wrap="square" lIns="91440" tIns="45720" rIns="91440" bIns="45720"/>
          <a:lstStyle/>
          <a:p>
            <a:r>
              <a:rPr lang="vi-VN" sz="1250" dirty="0">
                <a:solidFill>
                  <a:srgbClr val="14213D"/>
                </a:solidFill>
              </a:rPr>
              <a:t>1. Sentiment là keyword post-processing, không phải sentiment-aware ranking.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2. Output extractive nên traceable nhưng có thể dài hoặc multi-aspect.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3. Tokenizer là artifact bắt buộc và phải sync cùng checkpoint.</a:t>
            </a:r>
            <a:endParaRPr lang="vi-VN" sz="1250"/>
          </a:p>
          <a:p>
            <a:r>
              <a:rPr lang="vi-VN" sz="1250" dirty="0">
                <a:solidFill>
                  <a:srgbClr val="14213D"/>
                </a:solidFill>
              </a:rPr>
              <a:t>4. Run này ưu tiên có output đúng pipeline trước deadline; xem trace/log để đánh giá độ sạch numerical.</a:t>
            </a:r>
            <a:endParaRPr lang="vi-VN" sz="1250"/>
          </a:p>
        </p:txBody>
      </p:sp>
      <p:sp>
        <p:nvSpPr>
          <p:cNvPr id="6" name="Text 6"/>
          <p:cNvSpPr txBox="1"/>
          <p:nvPr/>
        </p:nvSpPr>
        <p:spPr>
          <a:xfrm>
            <a:off x="777240" y="4160520"/>
            <a:ext cx="10332720" cy="594360"/>
          </a:xfrm>
          <a:prstGeom prst="rect">
            <a:avLst/>
          </a:prstGeom>
          <a:solidFill>
            <a:srgbClr val="ECFDF5"/>
          </a:solidFill>
          <a:ln w="9525">
            <a:solidFill>
              <a:srgbClr val="99F6E4"/>
            </a:solidFill>
          </a:ln>
        </p:spPr>
        <p:txBody>
          <a:bodyPr wrap="square" lIns="91440" tIns="45720" rIns="91440" bIns="45720"/>
          <a:lstStyle/>
          <a:p>
            <a:r>
              <a:rPr lang="vi-VN" sz="1300" dirty="0">
                <a:b/>
                <a:solidFill>
                  <a:srgbClr val="14213D"/>
                </a:solidFill>
              </a:rPr>
              <a:t>Final deck path: outputs/space_hasos_full_e20_pipeline_report.pptx</a:t>
            </a:r>
            <a:endParaRPr lang="vi-VN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mAE">
  <a:themeElements>
    <a:clrScheme name="SemAE">
      <a:dk1>
        <a:srgbClr val="14213D"/>
      </a:dk1>
      <a:lt1>
        <a:srgbClr val="FFFFFF"/>
      </a:lt1>
      <a:dk2>
        <a:srgbClr val="56616F"/>
      </a:dk2>
      <a:lt2>
        <a:srgbClr val="F8FAFC"/>
      </a:lt2>
      <a:accent1>
        <a:srgbClr val="2563EB"/>
      </a:accent1>
      <a:accent2>
        <a:srgbClr val="0F766E"/>
      </a:accent2>
      <a:accent3>
        <a:srgbClr val="B7791F"/>
      </a:accent3>
      <a:accent4>
        <a:srgbClr val="B42318"/>
      </a:accent4>
      <a:accent5>
        <a:srgbClr val="64748B"/>
      </a:accent5>
      <a:accent6>
        <a:srgbClr val="0EA5E9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SemA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SemAE pipeline</Application>
  <PresentationFormat>Widescreen</PresentationFormat>
  <Slides>9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SemAE HASOS pipeline report</dc:title>
  <dc:creator>SemAE pipeline</dc:creator>
  <cp:lastModifiedBy>SemAE pipeline</cp:lastModifiedBy>
  <dcterms:created xsi:type="dcterms:W3CDTF">2026-06-09T18:20:27.760859+00:00</dcterms:created>
  <dcterms:modified xsi:type="dcterms:W3CDTF">2026-06-09T18:20:27.760859+00:00</dcterms:modified>
</cp:coreProperties>
</file>