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2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 type="wide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Master" Target="slideMasters/slide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SPACE_HASOS_FULL_E20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SPACE -&gt; HASOS SemAE: input/output từng stage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325880"/>
            <a:ext cx="5760720" cy="10058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1500" dirty="0">
                <a:solidFill>
                  <a:srgbClr val="14213D"/>
                </a:solidFill>
              </a:rPr>
              <a:t>Deck này mô tả dữ liệu đi vào và artifact đi ra ở từng stage. Nó không phải deck metric thuần túy.</a:t>
            </a:r>
            <a:endParaRPr lang="vi-VN" sz="1500"/>
          </a:p>
        </p:txBody>
      </p:sp>
      <p:sp>
        <p:nvSpPr>
          <p:cNvPr id="6" name="Text 6"/>
          <p:cNvSpPr txBox="1"/>
          <p:nvPr/>
        </p:nvSpPr>
        <p:spPr>
          <a:xfrm>
            <a:off x="6720840" y="1325880"/>
            <a:ext cx="43434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300" dirty="0">
                <a:solidFill>
                  <a:srgbClr val="14213D"/>
                </a:solidFill>
              </a:rPr>
              <a:t>Run đã xử lý</a:t>
            </a:r>
            <a:endParaRPr lang="vi-VN" sz="1300"/>
          </a:p>
          <a:p>
            <a:r>
              <a:rPr lang="vi-VN" sz="1300" dirty="0">
                <a:solidFill>
                  <a:srgbClr val="14213D"/>
                </a:solidFill>
              </a:rPr>
              <a:t>entities: 50</a:t>
            </a:r>
            <a:endParaRPr lang="vi-VN" sz="1300"/>
          </a:p>
          <a:p>
            <a:r>
              <a:rPr lang="vi-VN" sz="1300" dirty="0">
                <a:solidFill>
                  <a:srgbClr val="14213D"/>
                </a:solidFill>
              </a:rPr>
              <a:t>aspects: 29</a:t>
            </a:r>
            <a:endParaRPr lang="vi-VN" sz="1300"/>
          </a:p>
          <a:p>
            <a:r>
              <a:rPr lang="vi-VN" sz="1300" dirty="0">
                <a:solidFill>
                  <a:srgbClr val="14213D"/>
                </a:solidFill>
              </a:rPr>
              <a:t>aspect files: 1450</a:t>
            </a:r>
            <a:endParaRPr lang="vi-VN" sz="1300"/>
          </a:p>
          <a:p>
            <a:r>
              <a:rPr lang="vi-VN" sz="1300" dirty="0">
                <a:solidFill>
                  <a:srgbClr val="14213D"/>
                </a:solidFill>
              </a:rPr>
              <a:t>sentiment files: 4350</a:t>
            </a:r>
            <a:endParaRPr lang="vi-VN" sz="1300"/>
          </a:p>
        </p:txBody>
      </p:sp>
      <p:sp>
        <p:nvSpPr>
          <p:cNvPr id="7" name="Text 7"/>
          <p:cNvSpPr txBox="1"/>
          <p:nvPr/>
        </p:nvSpPr>
        <p:spPr>
          <a:xfrm>
            <a:off x="685800" y="3657600"/>
            <a:ext cx="10378440" cy="96012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solidFill>
                  <a:srgbClr val="14213D"/>
                </a:solidFill>
              </a:rPr>
              <a:t>Cảnh báo so sánh</a:t>
            </a:r>
            <a:endParaRPr lang="vi-VN" sz="1250"/>
          </a:p>
          <a:p>
            <a:r>
              <a:rPr lang="vi-VN" sz="1250" dirty="0">
                <a:solidFill>
                  <a:srgbClr val="14213D"/>
                </a:solidFill>
              </a:rPr>
              <a:t>Repo gốc SemAE chấm bằng ROUGE + gold summaries. HASOS hiện không có gold summaries, nên chưa có điểm ROUGE official để so sánh trực tiếp.</a:t>
            </a:r>
            <a:endParaRPr lang="vi-VN" sz="12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ORIGINAL METRIC CONTRACT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SemAE gốc chấm điểm như thế nào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4754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Input cần có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1. system summaries trong outputs/&lt;run_id&gt;/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2. gold summaries trong data/&lt;dataset&gt;/gold/&lt;aspect&gt;/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3. pyrouge + ROUGE data setup</a:t>
            </a:r>
            <a:endParaRPr lang="vi-VN" sz="1200"/>
          </a:p>
        </p:txBody>
      </p:sp>
      <p:sp>
        <p:nvSpPr>
          <p:cNvPr id="6" name="Text 6"/>
          <p:cNvSpPr txBox="1"/>
          <p:nvPr/>
        </p:nvSpPr>
        <p:spPr>
          <a:xfrm>
            <a:off x="5760720" y="1234440"/>
            <a:ext cx="5349240" cy="1097280"/>
          </a:xfrm>
          <a:prstGeom prst="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Xử lý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src/aspect_inference.py tạo RougeEvaluator cho dev/test/all, rồi gọi pyrouge convert_and_evaluate().</a:t>
            </a:r>
            <a:endParaRPr lang="vi-VN" sz="1200"/>
          </a:p>
        </p:txBody>
      </p:sp>
      <p:sp>
        <p:nvSpPr>
          <p:cNvPr id="7" name="Text 7"/>
          <p:cNvSpPr txBox="1"/>
          <p:nvPr/>
        </p:nvSpPr>
        <p:spPr>
          <a:xfrm>
            <a:off x="5760720" y="2651760"/>
            <a:ext cx="5349240" cy="132588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Output đúng repo gốc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outputs/eval_&lt;run_id&gt;.txt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outputs/eval_&lt;run_id&gt;.json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ROUGE-1 / ROUGE-2 / ROUGE-L</a:t>
            </a:r>
            <a:endParaRPr lang="vi-VN" sz="1200"/>
          </a:p>
        </p:txBody>
      </p:sp>
      <p:sp>
        <p:nvSpPr>
          <p:cNvPr id="8" name="Text 8"/>
          <p:cNvSpPr txBox="1"/>
          <p:nvPr/>
        </p:nvSpPr>
        <p:spPr>
          <a:xfrm>
            <a:off x="685800" y="4160520"/>
            <a:ext cx="10424160" cy="82296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Trạng thái HASOS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data/hasos hiện chỉ có review JSON + taxonomy. Không có data/hasos/gold, vì vậy không thể tạo điểm ROUGE comparable cho run này.</a:t>
            </a:r>
            <a:endParaRPr lang="vi-VN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INPUT -&gt; PREPARED DATASET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Stage 0: Prepare + validate HASOS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43891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150" dirty="0">
                <a:solidFill>
                  <a:srgbClr val="14213D"/>
                </a:solidFill>
              </a:rPr>
              <a:t>Input JSON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entity_id: 100597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entity_name: Doubletree by Hilton Seattle Airport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reviews/entity: 100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first review rating: 5</a:t>
            </a:r>
            <a:endParaRPr lang="vi-VN" sz="1150"/>
          </a:p>
        </p:txBody>
      </p:sp>
      <p:sp>
        <p:nvSpPr>
          <p:cNvPr id="6" name="Text 6"/>
          <p:cNvSpPr txBox="1"/>
          <p:nvPr/>
        </p:nvSpPr>
        <p:spPr>
          <a:xfrm>
            <a:off x="5349240" y="1234440"/>
            <a:ext cx="57150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950" dirty="0">
                <a:solidFill>
                  <a:srgbClr val="14213D"/>
                </a:solidFill>
              </a:rPr>
              <a:t>First review sentences</a:t>
            </a:r>
            <a:endParaRPr lang="vi-VN" sz="950"/>
          </a:p>
          <a:p>
            <a:r>
              <a:rPr lang="vi-VN" sz="950" dirty="0">
                <a:solidFill>
                  <a:srgbClr val="14213D"/>
                </a:solidFill>
              </a:rPr>
              <a:t>- We stayed here on a lay over home from Cancun.</a:t>
            </a:r>
            <a:endParaRPr lang="vi-VN" sz="950"/>
          </a:p>
          <a:p>
            <a:r>
              <a:rPr lang="vi-VN" sz="950" dirty="0">
                <a:solidFill>
                  <a:srgbClr val="14213D"/>
                </a:solidFill>
              </a:rPr>
              <a:t>- It was great to have a comfortable bed and room on our final night of holidays.</a:t>
            </a:r>
            <a:endParaRPr lang="vi-VN" sz="950"/>
          </a:p>
          <a:p>
            <a:r>
              <a:rPr lang="vi-VN" sz="950" dirty="0">
                <a:solidFill>
                  <a:srgbClr val="14213D"/>
                </a:solidFill>
              </a:rPr>
              <a:t>- The kids loved the pool which was warmer than the ones at the resort in Cancun which we could not believe as we were ...</a:t>
            </a:r>
            <a:endParaRPr lang="vi-VN" sz="950"/>
          </a:p>
          <a:p>
            <a:r>
              <a:rPr lang="vi-VN" sz="950" dirty="0">
                <a:solidFill>
                  <a:srgbClr val="14213D"/>
                </a:solidFill>
              </a:rPr>
              <a:t>- The staff was friendly and we appreciated the cookies after a long flight when we were waiting to check inn.</a:t>
            </a:r>
            <a:endParaRPr lang="vi-VN" sz="950"/>
          </a:p>
        </p:txBody>
      </p:sp>
      <p:sp>
        <p:nvSpPr>
          <p:cNvPr id="7" name="Text 7"/>
          <p:cNvSpPr txBox="1"/>
          <p:nvPr/>
        </p:nvSpPr>
        <p:spPr>
          <a:xfrm>
            <a:off x="685800" y="3840480"/>
            <a:ext cx="10378440" cy="96012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150" dirty="0">
                <a:solidFill>
                  <a:srgbClr val="14213D"/>
                </a:solidFill>
              </a:rPr>
              <a:t>Output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- data/hasos/hasos_summ.json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- data/hasos/aspect_taxonomy.json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- data/seeds_hasos/*.txt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- validate: 50 entities / 5000 reviews / 45529 sentences / 29 aspects</a:t>
            </a:r>
            <a:endParaRPr lang="vi-VN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TOKENIZER + CHECKPOINT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Stage 1: Artifact gate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80160"/>
            <a:ext cx="489204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150" dirty="0">
                <a:solidFill>
                  <a:srgbClr val="14213D"/>
                </a:solidFill>
              </a:rPr>
              <a:t>Input artifacts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- SPACE SentencePiece model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- epoch-20 SemAE checkpoint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- HASOS seeds/taxonomy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- run config: max_tokens=40, shards=4</a:t>
            </a:r>
            <a:endParaRPr lang="vi-VN" sz="1150"/>
          </a:p>
        </p:txBody>
      </p:sp>
      <p:sp>
        <p:nvSpPr>
          <p:cNvPr id="6" name="Text 6"/>
          <p:cNvSpPr txBox="1"/>
          <p:nvPr/>
        </p:nvSpPr>
        <p:spPr>
          <a:xfrm>
            <a:off x="5897880" y="1280160"/>
            <a:ext cx="5029200" cy="1143000"/>
          </a:xfrm>
          <a:prstGeom prst="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Dataset output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vocab_size: 32000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pad/bos/eos/unk: 0/2/3/1</a:t>
            </a:r>
            <a:endParaRPr lang="vi-VN" sz="1200"/>
          </a:p>
        </p:txBody>
      </p:sp>
      <p:sp>
        <p:nvSpPr>
          <p:cNvPr id="7" name="Text 7"/>
          <p:cNvSpPr txBox="1"/>
          <p:nvPr/>
        </p:nvSpPr>
        <p:spPr>
          <a:xfrm>
            <a:off x="5897880" y="2788920"/>
            <a:ext cx="5029200" cy="132588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Model output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nheads: 8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codebook_size: 1024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d_model: 320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device: cuda:0</a:t>
            </a:r>
            <a:endParaRPr lang="vi-VN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REVIEW FLATTENING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Stage 2: Entity -&gt; sentence pool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4800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Input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Một entity gồm nhiều reviews. Mỗi review có rating + list sentences. Review boundary được bỏ khi tạo sentence pool cho entity.</a:t>
            </a:r>
            <a:endParaRPr lang="vi-VN" sz="1200"/>
          </a:p>
        </p:txBody>
      </p:sp>
      <p:sp>
        <p:nvSpPr>
          <p:cNvPr id="6" name="Text 6"/>
          <p:cNvSpPr txBox="1"/>
          <p:nvPr/>
        </p:nvSpPr>
        <p:spPr>
          <a:xfrm>
            <a:off x="5806440" y="1234440"/>
            <a:ext cx="5166360" cy="155448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300" dirty="0">
                <a:solidFill>
                  <a:srgbClr val="14213D"/>
                </a:solidFill>
              </a:rPr>
              <a:t>Trace output</a:t>
            </a:r>
            <a:endParaRPr lang="vi-VN" sz="1300"/>
          </a:p>
          <a:p>
            <a:r>
              <a:rPr lang="vi-VN" sz="1300" dirty="0">
                <a:solidFill>
                  <a:srgbClr val="14213D"/>
                </a:solidFill>
              </a:rPr>
              <a:t>entity_id: 100597</a:t>
            </a:r>
            <a:endParaRPr lang="vi-VN" sz="1300"/>
          </a:p>
          <a:p>
            <a:r>
              <a:rPr lang="vi-VN" sz="1300" dirty="0">
                <a:solidFill>
                  <a:srgbClr val="14213D"/>
                </a:solidFill>
              </a:rPr>
              <a:t>sentences encoded: 893</a:t>
            </a:r>
            <a:endParaRPr lang="vi-VN" sz="1300"/>
          </a:p>
          <a:p>
            <a:r>
              <a:rPr lang="vi-VN" sz="1300" dirty="0">
                <a:solidFill>
                  <a:srgbClr val="14213D"/>
                </a:solidFill>
              </a:rPr>
              <a:t>aspect candidates: 30</a:t>
            </a:r>
            <a:endParaRPr lang="vi-VN" sz="1300"/>
          </a:p>
          <a:p>
            <a:r>
              <a:rPr lang="vi-VN" sz="1300" dirty="0">
                <a:solidFill>
                  <a:srgbClr val="14213D"/>
                </a:solidFill>
              </a:rPr>
              <a:t>shard: 0/4</a:t>
            </a:r>
            <a:endParaRPr lang="vi-VN" sz="1300"/>
          </a:p>
        </p:txBody>
      </p:sp>
      <p:sp>
        <p:nvSpPr>
          <p:cNvPr id="7" name="Text 7"/>
          <p:cNvSpPr txBox="1"/>
          <p:nvPr/>
        </p:nvSpPr>
        <p:spPr>
          <a:xfrm>
            <a:off x="685800" y="3657600"/>
            <a:ext cx="10287000" cy="777240"/>
          </a:xfrm>
          <a:prstGeom prst="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Output của stage này là tensorized sentence pool: token ids + sentence metadata để trace ngược review_id/sentence.</a:t>
            </a:r>
            <a:endParaRPr lang="vi-VN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LATENT DISTRIBUTIONS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Stage 3: SemAE encode + aspect prototypes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44805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Input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- token ids của từng sentence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- seeds_hasos/&lt;aspect&gt;.txt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- trained SemAE encoder + quantizer</a:t>
            </a:r>
            <a:endParaRPr lang="vi-VN" sz="1200"/>
          </a:p>
        </p:txBody>
      </p:sp>
      <p:sp>
        <p:nvSpPr>
          <p:cNvPr id="6" name="Text 6"/>
          <p:cNvSpPr txBox="1"/>
          <p:nvPr/>
        </p:nvSpPr>
        <p:spPr>
          <a:xfrm>
            <a:off x="5486400" y="1234440"/>
            <a:ext cx="5577840" cy="150876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Output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D_z(s): distribution của sentence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P_z: background distribution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P_k: prototype của aspect k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Một entity được score lại cho từng aspect.</a:t>
            </a:r>
            <a:endParaRPr lang="vi-VN" sz="1200"/>
          </a:p>
        </p:txBody>
      </p:sp>
      <p:sp>
        <p:nvSpPr>
          <p:cNvPr id="7" name="Text 7"/>
          <p:cNvSpPr txBox="1"/>
          <p:nvPr/>
        </p:nvSpPr>
        <p:spPr>
          <a:xfrm>
            <a:off x="685800" y="3429000"/>
            <a:ext cx="103784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350" dirty="0">
                <a:b/>
                <a:solidFill>
                  <a:srgbClr val="14213D"/>
                </a:solidFill>
              </a:rPr>
              <a:t>Ranking score</a:t>
            </a:r>
            <a:endParaRPr lang="vi-VN" sz="1350"/>
          </a:p>
          <a:p>
            <a:r>
              <a:rPr lang="vi-VN" sz="1350" dirty="0">
                <a:b/>
                <a:solidFill>
                  <a:srgbClr val="14213D"/>
                </a:solidFill>
              </a:rPr>
              <a:t>score(s,k) = KL(D_z(s)||P_z) - beta * KL(D_z(s)||P_k)</a:t>
            </a:r>
            <a:endParaRPr lang="vi-VN" sz="1350"/>
          </a:p>
          <a:p>
            <a:r>
              <a:rPr lang="vi-VN" sz="1350" dirty="0">
                <a:b/>
                <a:solidFill>
                  <a:srgbClr val="14213D"/>
                </a:solidFill>
              </a:rPr>
              <a:t>beta = 0.7; score thấp hơn được ưu tiên.</a:t>
            </a:r>
            <a:endParaRPr lang="vi-VN" sz="13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RANKED SENTENCES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Stage 4: Ranking output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4297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Input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D_z(s), P_z, P_k cho từng aspect.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Mỗi aspect nhận cùng sentence pool nhưng ranking khác nhau.</a:t>
            </a:r>
            <a:endParaRPr lang="vi-VN" sz="1200"/>
          </a:p>
        </p:txBody>
      </p:sp>
      <p:sp>
        <p:nvSpPr>
          <p:cNvPr id="6" name="Text 6"/>
          <p:cNvSpPr txBox="1"/>
          <p:nvPr/>
        </p:nvSpPr>
        <p:spPr>
          <a:xfrm>
            <a:off x="5349240" y="1234440"/>
            <a:ext cx="566928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900" dirty="0">
                <a:solidFill>
                  <a:srgbClr val="14213D"/>
                </a:solidFill>
              </a:rPr>
              <a:t>Trace sample</a:t>
            </a:r>
            <a:endParaRPr lang="vi-VN" sz="900"/>
          </a:p>
          <a:p>
            <a:r>
              <a:rPr lang="vi-VN" sz="900" dirty="0">
                <a:solidFill>
                  <a:srgbClr val="14213D"/>
                </a:solidFill>
              </a:rPr>
              <a:t>FAC_ROOM #1: We had a balcony, the beds were super comfortable, room was a good size and clean.</a:t>
            </a:r>
            <a:endParaRPr lang="vi-VN" sz="900"/>
          </a:p>
          <a:p>
            <a:r>
              <a:rPr lang="vi-VN" sz="900" dirty="0">
                <a:solidFill>
                  <a:srgbClr val="14213D"/>
                </a:solidFill>
              </a:rPr>
              <a:t>FAC_ROOM #2: The bed was very nice, room was clean, we even had a balcony.</a:t>
            </a:r>
            <a:endParaRPr lang="vi-VN" sz="900"/>
          </a:p>
          <a:p>
            <a:r>
              <a:rPr lang="vi-VN" sz="900" dirty="0">
                <a:solidFill>
                  <a:srgbClr val="14213D"/>
                </a:solidFill>
              </a:rPr>
              <a:t>FAC_ROOM #3: The room was spacious with a comfortable bed and a large selection of various pillows.</a:t>
            </a:r>
            <a:endParaRPr lang="vi-VN" sz="900"/>
          </a:p>
          <a:p>
            <a:r>
              <a:rPr lang="vi-VN" sz="900" dirty="0">
                <a:solidFill>
                  <a:srgbClr val="14213D"/>
                </a:solidFill>
              </a:rPr>
              <a:t>AM_FOOD #1: The service in both the casual restaurant at breakfast and the dining room in the evening was efficient.</a:t>
            </a:r>
            <a:endParaRPr lang="vi-VN" sz="900"/>
          </a:p>
          <a:p>
            <a:r>
              <a:rPr lang="vi-VN" sz="900" dirty="0">
                <a:solidFill>
                  <a:srgbClr val="14213D"/>
                </a:solidFill>
              </a:rPr>
              <a:t>AM_FOOD #2: The restaurant also had good food (we were given a $10 per person coupon to use in the restaurant from the hotel).</a:t>
            </a:r>
            <a:endParaRPr lang="vi-VN" sz="900"/>
          </a:p>
        </p:txBody>
      </p:sp>
      <p:sp>
        <p:nvSpPr>
          <p:cNvPr id="7" name="Text 7"/>
          <p:cNvSpPr txBox="1"/>
          <p:nvPr/>
        </p:nvSpPr>
        <p:spPr>
          <a:xfrm>
            <a:off x="685800" y="4160520"/>
            <a:ext cx="10332720" cy="685800"/>
          </a:xfrm>
          <a:prstGeom prst="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r>
              <a:rPr lang="vi-VN" sz="1150" dirty="0">
                <a:solidFill>
                  <a:srgbClr val="14213D"/>
                </a:solidFill>
              </a:rPr>
              <a:t>Output là ranked list có score, review_id, sentence. Đây là điểm kiểm tra quan trọng nhất để biết aspect selection đúng hay không.</a:t>
            </a:r>
            <a:endParaRPr lang="vi-VN" sz="1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ASPECT-ONLY OUTPUT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Stage 5: Truncate + write aspect summary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452628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Input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Ranked sentences của một entity/aspect.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Sau đó lọc câu ngắn, dedupe TF-IDF nếu bật, cắt theo max_tokens=40.</a:t>
            </a:r>
            <a:endParaRPr lang="vi-VN" sz="1200"/>
          </a:p>
        </p:txBody>
      </p:sp>
      <p:sp>
        <p:nvSpPr>
          <p:cNvPr id="6" name="Text 6"/>
          <p:cNvSpPr txBox="1"/>
          <p:nvPr/>
        </p:nvSpPr>
        <p:spPr>
          <a:xfrm>
            <a:off x="5532120" y="1234440"/>
            <a:ext cx="5532120" cy="96012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Output file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../outputs/space_hasos_full_e20__shard0/FAC_ROOM/dev_100597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sentences: 3</a:t>
            </a:r>
            <a:endParaRPr lang="vi-VN" sz="1050"/>
          </a:p>
        </p:txBody>
      </p:sp>
      <p:sp>
        <p:nvSpPr>
          <p:cNvPr id="7" name="Text 7"/>
          <p:cNvSpPr txBox="1"/>
          <p:nvPr/>
        </p:nvSpPr>
        <p:spPr>
          <a:xfrm>
            <a:off x="685800" y="2743200"/>
            <a:ext cx="103784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000" dirty="0">
                <a:solidFill>
                  <a:srgbClr val="14213D"/>
                </a:solidFill>
              </a:rPr>
              <a:t>Sample summary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- We had a balcony, the beds were super comfortable, room was a good size and clean.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- The bed was very nice, room was clean, we even had a balcony.</a:t>
            </a:r>
            <a:endParaRPr lang="vi-VN" sz="1000"/>
          </a:p>
          <a:p>
            <a:r>
              <a:rPr lang="vi-VN" sz="1000" dirty="0">
                <a:solidFill>
                  <a:srgbClr val="14213D"/>
                </a:solidFill>
              </a:rPr>
              <a:t>- The room was spacious with a comfortable bed and a large</a:t>
            </a:r>
            <a:endParaRPr lang="vi-VN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POST-RANK BUCKETS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Stage 6: Sentiment split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48006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Input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Chỉ các sentences đã được chọn cho aspect summary. Sentiment không thay đổi ranking, chỉ tách bucket sau khi đã chọn câu.</a:t>
            </a:r>
            <a:endParaRPr lang="vi-VN" sz="1200"/>
          </a:p>
        </p:txBody>
      </p:sp>
      <p:sp>
        <p:nvSpPr>
          <p:cNvPr id="6" name="Text 6"/>
          <p:cNvSpPr txBox="1"/>
          <p:nvPr/>
        </p:nvSpPr>
        <p:spPr>
          <a:xfrm>
            <a:off x="5806440" y="1234440"/>
            <a:ext cx="5166360" cy="123444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300" dirty="0">
                <a:solidFill>
                  <a:srgbClr val="14213D"/>
                </a:solidFill>
              </a:rPr>
              <a:t>Output FAC_ROOM / entity 100597</a:t>
            </a:r>
            <a:endParaRPr lang="vi-VN" sz="1300"/>
          </a:p>
          <a:p>
            <a:r>
              <a:rPr lang="vi-VN" sz="1300" dirty="0">
                <a:solidFill>
                  <a:srgbClr val="14213D"/>
                </a:solidFill>
              </a:rPr>
              <a:t>pos sentences: 3</a:t>
            </a:r>
            <a:endParaRPr lang="vi-VN" sz="1300"/>
          </a:p>
          <a:p>
            <a:r>
              <a:rPr lang="vi-VN" sz="1300" dirty="0">
                <a:solidFill>
                  <a:srgbClr val="14213D"/>
                </a:solidFill>
              </a:rPr>
              <a:t>neg sentences: 0</a:t>
            </a:r>
            <a:endParaRPr lang="vi-VN" sz="1300"/>
          </a:p>
          <a:p>
            <a:r>
              <a:rPr lang="vi-VN" sz="1300" dirty="0">
                <a:solidFill>
                  <a:srgbClr val="14213D"/>
                </a:solidFill>
              </a:rPr>
              <a:t>neu sentences: 0</a:t>
            </a:r>
            <a:endParaRPr lang="vi-VN" sz="1300"/>
          </a:p>
        </p:txBody>
      </p:sp>
      <p:sp>
        <p:nvSpPr>
          <p:cNvPr id="7" name="Text 7"/>
          <p:cNvSpPr txBox="1"/>
          <p:nvPr/>
        </p:nvSpPr>
        <p:spPr>
          <a:xfrm>
            <a:off x="685800" y="3063240"/>
            <a:ext cx="10287000" cy="1280160"/>
          </a:xfrm>
          <a:prstGeom prst="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r>
              <a:rPr lang="vi-VN" sz="1050" dirty="0">
                <a:solidFill>
                  <a:srgbClr val="14213D"/>
                </a:solidFill>
              </a:rPr>
              <a:t>Tree output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outputs/&lt;run_id&gt;_sentiment/&lt;aspect&gt;__pos/&lt;split&gt;_&lt;entity&gt;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outputs/&lt;run_id&gt;_sentiment/&lt;aspect&gt;__neg/&lt;split&gt;_&lt;entity&gt;</a:t>
            </a:r>
            <a:endParaRPr lang="vi-VN" sz="1050"/>
          </a:p>
          <a:p>
            <a:r>
              <a:rPr lang="vi-VN" sz="1050" dirty="0">
                <a:solidFill>
                  <a:srgbClr val="14213D"/>
                </a:solidFill>
              </a:rPr>
              <a:t>outputs/&lt;run_id&gt;_sentiment/&lt;aspect&gt;__neu/&lt;split&gt;_&lt;entity&gt;</a:t>
            </a:r>
            <a:endParaRPr lang="vi-VN"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FILES FOR AUDIT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Stage 7: Export + scoring outputs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4434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150" dirty="0">
                <a:solidFill>
                  <a:srgbClr val="14213D"/>
                </a:solidFill>
              </a:rPr>
              <a:t>Export input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File tree: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outputs/space_hasos_full_e20/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outputs/space_hasos_full_e20_sentiment/</a:t>
            </a:r>
            <a:endParaRPr lang="vi-VN" sz="1150"/>
          </a:p>
        </p:txBody>
      </p:sp>
      <p:sp>
        <p:nvSpPr>
          <p:cNvPr id="6" name="Text 6"/>
          <p:cNvSpPr txBox="1"/>
          <p:nvPr/>
        </p:nvSpPr>
        <p:spPr>
          <a:xfrm>
            <a:off x="5440680" y="1234440"/>
            <a:ext cx="2651760" cy="123444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Export output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aspect rows: 3660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sentiment rows: 6110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JSONL + TSV line format</a:t>
            </a:r>
            <a:endParaRPr lang="vi-VN" sz="1200"/>
          </a:p>
        </p:txBody>
      </p:sp>
      <p:sp>
        <p:nvSpPr>
          <p:cNvPr id="7" name="Text 7"/>
          <p:cNvSpPr txBox="1"/>
          <p:nvPr/>
        </p:nvSpPr>
        <p:spPr>
          <a:xfrm>
            <a:off x="8366760" y="12344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150" dirty="0">
                <a:solidFill>
                  <a:srgbClr val="14213D"/>
                </a:solidFill>
              </a:rPr>
              <a:t>Reference-free scores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bert_f1_aspect: 0.8098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bert_f1_source: 0.8074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aspect_purity: 0.5517</a:t>
            </a:r>
            <a:endParaRPr lang="vi-VN" sz="1150"/>
          </a:p>
        </p:txBody>
      </p:sp>
      <p:sp>
        <p:nvSpPr>
          <p:cNvPr id="8" name="Text 8"/>
          <p:cNvSpPr txBox="1"/>
          <p:nvPr/>
        </p:nvSpPr>
        <p:spPr>
          <a:xfrm>
            <a:off x="685800" y="3520440"/>
            <a:ext cx="10378440" cy="960120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</a:ln>
        </p:spPr>
        <p:txBody>
          <a:bodyPr wrap="square" lIns="91440" tIns="45720" rIns="91440" bIns="45720"/>
          <a:lstStyle/>
          <a:p>
            <a:r>
              <a:rPr lang="vi-VN" sz="1150" dirty="0">
                <a:solidFill>
                  <a:srgbClr val="14213D"/>
                </a:solidFill>
              </a:rPr>
              <a:t>Original ROUGE lane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Input thiếu: data/hasos/gold/&lt;aspect&gt;/#ID#_[012].txt</a:t>
            </a:r>
            <a:endParaRPr lang="vi-VN" sz="1150"/>
          </a:p>
          <a:p>
            <a:r>
              <a:rPr lang="vi-VN" sz="1150" dirty="0">
                <a:solidFill>
                  <a:srgbClr val="14213D"/>
                </a:solidFill>
              </a:rPr>
              <a:t>Khi có gold, rerun aspect_inference.py without --no_eval để sinh eval_&lt;run_id&gt;.json/txt.</a:t>
            </a:r>
            <a:endParaRPr lang="vi-VN" sz="11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ext 2"/>
          <p:cNvSpPr txBox="1"/>
          <p:nvPr/>
        </p:nvSpPr>
        <p:spPr>
          <a:xfrm>
            <a:off x="502920" y="22860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800" dirty="0">
                <a:b/>
                <a:solidFill>
                  <a:srgbClr val="2563EB"/>
                </a:solidFill>
              </a:rPr>
              <a:t>NEXT STEP</a:t>
            </a:r>
            <a:endParaRPr lang="vi-VN" sz="800"/>
          </a:p>
        </p:txBody>
      </p:sp>
      <p:sp>
        <p:nvSpPr>
          <p:cNvPr id="3" name="Text 3"/>
          <p:cNvSpPr txBox="1"/>
          <p:nvPr/>
        </p:nvSpPr>
        <p:spPr>
          <a:xfrm>
            <a:off x="502920" y="512064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r>
              <a:rPr lang="vi-VN" sz="2300" dirty="0">
                <a:b/>
                <a:solidFill>
                  <a:srgbClr val="14213D"/>
                </a:solidFill>
              </a:rPr>
              <a:t>Muốn so sánh đúng repo gốc cần gì?</a:t>
            </a:r>
            <a:endParaRPr lang="vi-VN" sz="2300"/>
          </a:p>
        </p:txBody>
      </p:sp>
      <p:cxnSp>
        <p:nvCxnSpPr>
          <p:cNvPr id="4" name="Line 4"/>
          <p:cNvCxnSpPr/>
          <p:nvPr/>
        </p:nvCxnSpPr>
        <p:spPr>
          <a:xfrm>
            <a:off x="502920" y="1033271"/>
            <a:ext cx="11155680" cy="0"/>
          </a:xfrm>
          <a:prstGeom prst="line">
            <a:avLst/>
          </a:prstGeom>
          <a:ln w="12700">
            <a:solidFill>
              <a:srgbClr val="D8DEE9"/>
            </a:solidFill>
          </a:ln>
        </p:spPr>
      </p:cxnSp>
      <p:sp>
        <p:nvSpPr>
          <p:cNvPr id="5" name="Text 5"/>
          <p:cNvSpPr txBox="1"/>
          <p:nvPr/>
        </p:nvSpPr>
        <p:spPr>
          <a:xfrm>
            <a:off x="685800" y="1234440"/>
            <a:ext cx="4983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9"/>
            </a:solidFill>
          </a:ln>
        </p:spPr>
        <p:txBody>
          <a:bodyPr wrap="square" lIns="91440" tIns="45720" rIns="91440" bIns="45720"/>
          <a:lstStyle/>
          <a:p>
            <a:r>
              <a:rPr lang="vi-VN" sz="1200" dirty="0">
                <a:solidFill>
                  <a:srgbClr val="14213D"/>
                </a:solidFill>
              </a:rPr>
              <a:t>Cần bổ sung gold summaries</a:t>
            </a:r>
            <a:endParaRPr lang="vi-VN" sz="1200"/>
          </a:p>
          <a:p>
            <a:r>
              <a:rPr lang="vi-VN" sz="1200" dirty="0">
                <a:solidFill>
                  <a:srgbClr val="14213D"/>
                </a:solidFill>
              </a:rPr>
              <a:t>Mỗi aspect có thư mục riêng. Mỗi entity cần 1-3 reference files theo pattern pyrouge: #ID#_[012].txt.</a:t>
            </a:r>
            <a:endParaRPr lang="vi-VN" sz="1200"/>
          </a:p>
        </p:txBody>
      </p:sp>
      <p:sp>
        <p:nvSpPr>
          <p:cNvPr id="6" name="Text 6"/>
          <p:cNvSpPr txBox="1"/>
          <p:nvPr/>
        </p:nvSpPr>
        <p:spPr>
          <a:xfrm>
            <a:off x="5989320" y="1234440"/>
            <a:ext cx="5029200" cy="2057400"/>
          </a:xfrm>
          <a:prstGeom prst="rect">
            <a:avLst/>
          </a:prstGeom>
          <a:solidFill>
            <a:srgbClr val="EEF6FF"/>
          </a:solidFill>
          <a:ln w="9525">
            <a:solidFill>
              <a:srgbClr val="BFDBFE"/>
            </a:solidFill>
          </a:ln>
        </p:spPr>
        <p:txBody>
          <a:bodyPr wrap="square" lIns="91440" tIns="45720" rIns="91440" bIns="45720"/>
          <a:lstStyle/>
          <a:p>
            <a:r>
              <a:rPr lang="vi-VN" sz="900" dirty="0">
                <a:solidFill>
                  <a:srgbClr val="14213D"/>
                </a:solidFill>
              </a:rPr>
              <a:t>Command sau khi có gold</a:t>
            </a:r>
            <a:endParaRPr lang="vi-VN" sz="900"/>
          </a:p>
          <a:p>
            <a:r>
              <a:rPr lang="vi-VN" sz="900" dirty="0">
                <a:solidFill>
                  <a:srgbClr val="14213D"/>
                </a:solidFill>
              </a:rPr>
              <a:t>python src/aspect_inference.py --summary_data data/hasos/hasos_summ.json --gold_data data/hasos/gold --seedsdir data/seeds_hasos --gold_aspects &lt;29 codes&gt; --model &lt;checkpoint&gt; --run_id &lt;run&gt; --gpu 0</a:t>
            </a:r>
            <a:endParaRPr lang="vi-VN" sz="900"/>
          </a:p>
        </p:txBody>
      </p:sp>
      <p:sp>
        <p:nvSpPr>
          <p:cNvPr id="7" name="Text 7"/>
          <p:cNvSpPr txBox="1"/>
          <p:nvPr/>
        </p:nvSpPr>
        <p:spPr>
          <a:xfrm>
            <a:off x="685800" y="3977639"/>
            <a:ext cx="10332720" cy="822960"/>
          </a:xfrm>
          <a:prstGeom prst="rect">
            <a:avLst/>
          </a:prstGeom>
          <a:solidFill>
            <a:srgbClr val="ECFDF5"/>
          </a:solidFill>
          <a:ln w="9525">
            <a:solidFill>
              <a:srgbClr val="99F6E4"/>
            </a:solidFill>
          </a:ln>
        </p:spPr>
        <p:txBody>
          <a:bodyPr wrap="square" lIns="91440" tIns="45720" rIns="91440" bIns="45720"/>
          <a:lstStyle/>
          <a:p>
            <a:r>
              <a:rPr lang="vi-VN" sz="1250" dirty="0">
                <a:b/>
                <a:solidFill>
                  <a:srgbClr val="14213D"/>
                </a:solidFill>
              </a:rPr>
              <a:t>Kết luận</a:t>
            </a:r>
            <a:endParaRPr lang="vi-VN" sz="1250"/>
          </a:p>
          <a:p>
            <a:r>
              <a:rPr lang="vi-VN" sz="1250" dirty="0">
                <a:b/>
                <a:solidFill>
                  <a:srgbClr val="14213D"/>
                </a:solidFill>
              </a:rPr>
              <a:t>Deck này mô tả pipeline input/output. Điểm BERTScore/reference-free hiện có chỉ là audit bổ sung; chưa thay thế ROUGE official của SemAE gốc.</a:t>
            </a:r>
            <a:endParaRPr lang="vi-VN" sz="1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AE">
  <a:themeElements>
    <a:clrScheme name="SemAE">
      <a:dk1>
        <a:srgbClr val="14213D"/>
      </a:dk1>
      <a:lt1>
        <a:srgbClr val="FFFFFF"/>
      </a:lt1>
      <a:dk2>
        <a:srgbClr val="56616F"/>
      </a:dk2>
      <a:lt2>
        <a:srgbClr val="F8FAFC"/>
      </a:lt2>
      <a:accent1>
        <a:srgbClr val="2563EB"/>
      </a:accent1>
      <a:accent2>
        <a:srgbClr val="0F766E"/>
      </a:accent2>
      <a:accent3>
        <a:srgbClr val="B7791F"/>
      </a:accent3>
      <a:accent4>
        <a:srgbClr val="B42318"/>
      </a:accent4>
      <a:accent5>
        <a:srgbClr val="64748B"/>
      </a:accent5>
      <a:accent6>
        <a:srgbClr val="0EA5E9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SemA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SemAE pipeline</Application>
  <PresentationFormat>Widescreen</PresentationFormat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 HASOS stage I/O report</dc:title>
  <dc:creator>SemAE pipeline</dc:creator>
  <cp:lastModifiedBy>SemAE pipeline</cp:lastModifiedBy>
  <dcterms:created xsi:type="dcterms:W3CDTF">2026-06-09T09:59:45.751576+00:00</dcterms:created>
  <dcterms:modified xsi:type="dcterms:W3CDTF">2026-06-09T09:59:45.751576+00:00</dcterms:modified>
</cp:coreProperties>
</file>